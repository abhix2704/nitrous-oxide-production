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346"/>
    <a:srgbClr val="20AACD"/>
    <a:srgbClr val="C8425E"/>
    <a:srgbClr val="1FA8D4"/>
    <a:srgbClr val="CB425C"/>
    <a:srgbClr val="D13E5E"/>
    <a:srgbClr val="000000"/>
    <a:srgbClr val="83D483"/>
    <a:srgbClr val="F75E84"/>
    <a:srgbClr val="37A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>
        <p:scale>
          <a:sx n="125" d="100"/>
          <a:sy n="125" d="100"/>
        </p:scale>
        <p:origin x="1350" y="-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3D498-F933-4998-A971-2DF9B494F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15B4B-67B3-4A71-AD66-C2CDB62B3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FF33E-8E89-442C-A56A-9FD9CA766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1E074-F466-493C-88EA-577544C0A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069DB-517E-4637-ACC1-BC690F86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190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5084C-6DA5-4944-AE06-0252E3B43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0C10C-A7D4-4A91-A4DA-E1F5A2965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FDBF-A2F9-4882-A2A1-0C61F4E51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00A43-CA82-4FA8-8494-6BD9D679E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9E13F-B7B2-4F78-8966-14A5B2D56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004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C66D-4C40-4794-B41C-01101A1D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B0854-73D3-483E-8C2C-8B490C4E0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05F1-233F-4D66-BD03-F55DCBBC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70867-C43B-4600-BA7F-1BE1A050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82017-4231-4482-8A90-0D5A22CC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48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C582-24A2-4E8C-A08C-0623258A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9E629-BE58-455F-9FDC-57871935F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246C7-9D72-44BB-A553-96BDB75BE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46F08-99EB-4791-BE42-762697E9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5A41E-8063-48F8-AC63-DD404A89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3B88B-62D8-48C0-B4E7-82A7DF62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18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1A6FB-F468-407B-9D8E-D4609717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0E5BB-BC6B-49BF-BB22-1E18B0953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F71342-3F4A-4EF5-A8CC-3379B47DC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6989C-9BA6-45A2-9179-0F7370156D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59424-9C7C-4079-8218-FFA1C2C84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9FB4-927A-456B-8181-3379F7693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7BCC9A-D739-4951-945A-F0E03709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646496-7FEC-4C44-A6C1-5BA8BA39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1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6BDA-3A5E-48DB-A727-F968F9FA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CB333-43BC-4B77-8BD7-77350160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F8C6B-BABA-4C33-89B5-803D6AE4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D859B-2AD7-4514-A7FD-AE8ADC89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250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D2670-14A8-4D67-AF88-2C6A61AF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587EB2-EF89-4FEC-B40B-CEFCB90A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CB8D7-533C-4F2A-B3CE-1D1A4562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9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7A47C-E76D-46BA-8828-98614E24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A217-F3FA-43FF-9871-33733B94A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FE586-F36A-4EF8-B293-9F9B38E5E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9E380-33E9-42A2-A9A6-9ED98195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8EECA-6D74-4655-B03F-B48F6972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0CD18-4F2C-485D-814D-1A18552AE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04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9ACF1-641F-4DBB-B148-09FCD77D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67E1F2-1CB2-4893-92C1-27EA59F7F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5042D-FEAD-47E3-A342-4137F66C6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D139C-A7A3-4E98-A6DE-9973A365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C6FAF-795A-443B-B087-89E6F45F8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F439D-79CD-435A-A6AD-DACA0B33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569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3931-E100-4F7E-AE24-8C755529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585CB-805A-4A7D-ADEF-62EB6F2B5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A27D6-44B8-4B3B-B184-83ABA3984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69691-E364-4DAD-A2A8-B9553DD9D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B9975-862C-4D71-92A1-CF44175B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20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B53E13-CAC1-474A-A08E-F71A1D20A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7B1BD7-535C-4643-B14F-AAC80BCFD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49DC-48A0-474A-9A73-D7DBC9BD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5C21-B517-4A23-90DA-C25CDF7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60F0-4DF9-495D-B687-620F9D8B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38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A4D76-3736-42B5-B4CC-32CEFC65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BE24F-C8EA-4C46-9CAA-220695FAF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2127-97F4-439D-97AC-E7000A4ACB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47393-7C56-4D32-8D37-245151315175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81B17-9014-4EAC-8799-7AE410E08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3F431-3524-4B01-B02F-35CE505B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E813A-9FD7-4895-951E-906D419CD0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2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jp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24.sv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2" Type="http://schemas.openxmlformats.org/officeDocument/2006/relationships/image" Target="../media/image15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26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0557C-73F3-431A-8E41-50F854AD1DE3}"/>
              </a:ext>
            </a:extLst>
          </p:cNvPr>
          <p:cNvSpPr txBox="1"/>
          <p:nvPr/>
        </p:nvSpPr>
        <p:spPr>
          <a:xfrm>
            <a:off x="361950" y="371475"/>
            <a:ext cx="4373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Lato" panose="020F0502020204030203" pitchFamily="34" charset="0"/>
              </a:rPr>
              <a:t>Elements to be included</a:t>
            </a:r>
          </a:p>
        </p:txBody>
      </p:sp>
      <p:pic>
        <p:nvPicPr>
          <p:cNvPr id="1026" name="Picture 2" descr="43 Veg Products Green Dot Royalty-Free Images, Stock Photos &amp; Pictures |  Shutterstock">
            <a:extLst>
              <a:ext uri="{FF2B5EF4-FFF2-40B4-BE49-F238E27FC236}">
                <a16:creationId xmlns:a16="http://schemas.microsoft.com/office/drawing/2014/main" id="{2BF51862-5965-4617-878D-A76EC31EA7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t="12143" r="50216" b="20714"/>
          <a:stretch/>
        </p:blipFill>
        <p:spPr bwMode="auto">
          <a:xfrm>
            <a:off x="3321791" y="1797073"/>
            <a:ext cx="876640" cy="83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C9C475-878D-4F00-A887-9E19AE9FC094}"/>
              </a:ext>
            </a:extLst>
          </p:cNvPr>
          <p:cNvSpPr txBox="1"/>
          <p:nvPr/>
        </p:nvSpPr>
        <p:spPr>
          <a:xfrm>
            <a:off x="1742951" y="2840073"/>
            <a:ext cx="4171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Green dot: vegetarian food in India; green chemistry; green oxidant</a:t>
            </a:r>
          </a:p>
        </p:txBody>
      </p:sp>
      <p:pic>
        <p:nvPicPr>
          <p:cNvPr id="1028" name="Picture 4" descr="Launch of NCCR Catalysis">
            <a:extLst>
              <a:ext uri="{FF2B5EF4-FFF2-40B4-BE49-F238E27FC236}">
                <a16:creationId xmlns:a16="http://schemas.microsoft.com/office/drawing/2014/main" id="{9507D854-C9A9-416F-87F1-0CCAD8A40F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11" t="13786" r="32011" b="14350"/>
          <a:stretch/>
        </p:blipFill>
        <p:spPr bwMode="auto">
          <a:xfrm>
            <a:off x="8431890" y="1586386"/>
            <a:ext cx="1119415" cy="125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07576B-52C1-44F3-B593-0405AC8AA969}"/>
              </a:ext>
            </a:extLst>
          </p:cNvPr>
          <p:cNvSpPr txBox="1"/>
          <p:nvPr/>
        </p:nvSpPr>
        <p:spPr>
          <a:xfrm>
            <a:off x="7739739" y="2840073"/>
            <a:ext cx="2503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NCCR catalysis logo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8A811-0FF7-4C90-9B06-84BF849561B7}"/>
              </a:ext>
            </a:extLst>
          </p:cNvPr>
          <p:cNvSpPr txBox="1"/>
          <p:nvPr/>
        </p:nvSpPr>
        <p:spPr>
          <a:xfrm>
            <a:off x="1044474" y="5094998"/>
            <a:ext cx="5832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Health mark: mandatory stamp within the EU for animal origin products. CH: made in Switzerland, CE: European Union, 20 &amp; 5: unique veterinary approval number (here 20% lower emissions and costs, and 5 times lower safety hazards)</a:t>
            </a:r>
            <a:endParaRPr lang="en-GB" dirty="0">
              <a:latin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4A4867-2FE7-42E8-BEC5-EC975349C74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00" b="42678"/>
          <a:stretch/>
        </p:blipFill>
        <p:spPr>
          <a:xfrm rot="1739944">
            <a:off x="7995748" y="4234297"/>
            <a:ext cx="1991696" cy="49051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3B0528A-1ECD-4AE0-868C-EE311220AD4C}"/>
              </a:ext>
            </a:extLst>
          </p:cNvPr>
          <p:cNvGrpSpPr/>
          <p:nvPr/>
        </p:nvGrpSpPr>
        <p:grpSpPr>
          <a:xfrm>
            <a:off x="2973492" y="3998572"/>
            <a:ext cx="1291840" cy="961964"/>
            <a:chOff x="2973491" y="4410136"/>
            <a:chExt cx="1291840" cy="96196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579F4E9-DD29-4F37-A95E-21AACAD5C1C6}"/>
                </a:ext>
              </a:extLst>
            </p:cNvPr>
            <p:cNvSpPr/>
            <p:nvPr/>
          </p:nvSpPr>
          <p:spPr>
            <a:xfrm>
              <a:off x="2973491" y="4410136"/>
              <a:ext cx="1291840" cy="961964"/>
            </a:xfrm>
            <a:prstGeom prst="ellipse">
              <a:avLst/>
            </a:prstGeom>
            <a:noFill/>
            <a:ln w="28575">
              <a:solidFill>
                <a:srgbClr val="C841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FDF495-70DC-4E13-89BD-D2B760A52B85}"/>
                </a:ext>
              </a:extLst>
            </p:cNvPr>
            <p:cNvSpPr txBox="1"/>
            <p:nvPr/>
          </p:nvSpPr>
          <p:spPr>
            <a:xfrm>
              <a:off x="3393227" y="4410136"/>
              <a:ext cx="4523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8415E"/>
                  </a:solidFill>
                </a:rPr>
                <a:t>CH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579EDD5-7472-4212-84D8-361AB388C889}"/>
                </a:ext>
              </a:extLst>
            </p:cNvPr>
            <p:cNvSpPr txBox="1"/>
            <p:nvPr/>
          </p:nvSpPr>
          <p:spPr>
            <a:xfrm>
              <a:off x="3410059" y="499252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8415E"/>
                  </a:solidFill>
                </a:rPr>
                <a:t>CE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284B06-13AB-457F-8BE3-6D08750866B9}"/>
                </a:ext>
              </a:extLst>
            </p:cNvPr>
            <p:cNvSpPr txBox="1"/>
            <p:nvPr/>
          </p:nvSpPr>
          <p:spPr>
            <a:xfrm>
              <a:off x="3162546" y="46867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8415E"/>
                  </a:solidFill>
                </a:rPr>
                <a:t>20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33B425-AB73-4013-9A56-EF0AB5B9C2F6}"/>
                </a:ext>
              </a:extLst>
            </p:cNvPr>
            <p:cNvSpPr txBox="1"/>
            <p:nvPr/>
          </p:nvSpPr>
          <p:spPr>
            <a:xfrm>
              <a:off x="3716132" y="46867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8415E"/>
                  </a:solidFill>
                </a:rPr>
                <a:t>5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48884F4-C17B-4E57-A90C-9B6A4A3DA71F}"/>
              </a:ext>
            </a:extLst>
          </p:cNvPr>
          <p:cNvSpPr txBox="1"/>
          <p:nvPr/>
        </p:nvSpPr>
        <p:spPr>
          <a:xfrm>
            <a:off x="7520300" y="5094998"/>
            <a:ext cx="2942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Nitrous oxide (N</a:t>
            </a:r>
            <a:r>
              <a:rPr lang="en-GB" baseline="-25000" dirty="0"/>
              <a:t>2</a:t>
            </a:r>
            <a:r>
              <a:rPr lang="en-GB" dirty="0"/>
              <a:t>O) molecule</a:t>
            </a:r>
            <a:endParaRPr lang="en-GB" dirty="0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676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0557C-73F3-431A-8E41-50F854AD1DE3}"/>
              </a:ext>
            </a:extLst>
          </p:cNvPr>
          <p:cNvSpPr txBox="1"/>
          <p:nvPr/>
        </p:nvSpPr>
        <p:spPr>
          <a:xfrm>
            <a:off x="361950" y="371475"/>
            <a:ext cx="43733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Lato" panose="020F0502020204030203" pitchFamily="34" charset="0"/>
              </a:rPr>
              <a:t>Elements to be included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C9C475-878D-4F00-A887-9E19AE9FC094}"/>
              </a:ext>
            </a:extLst>
          </p:cNvPr>
          <p:cNvSpPr txBox="1"/>
          <p:nvPr/>
        </p:nvSpPr>
        <p:spPr>
          <a:xfrm>
            <a:off x="823817" y="2922052"/>
            <a:ext cx="3044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QR code linked to the paper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7576B-52C1-44F3-B593-0405AC8AA969}"/>
              </a:ext>
            </a:extLst>
          </p:cNvPr>
          <p:cNvSpPr txBox="1"/>
          <p:nvPr/>
        </p:nvSpPr>
        <p:spPr>
          <a:xfrm>
            <a:off x="4452794" y="2919558"/>
            <a:ext cx="3804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Product score: similar to nutri score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4CC67B-4CF1-40A1-B514-EB484F4099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65" t="31852" r="34570" b="32276"/>
          <a:stretch/>
        </p:blipFill>
        <p:spPr>
          <a:xfrm>
            <a:off x="1724055" y="1497426"/>
            <a:ext cx="1244475" cy="124065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C624971-7298-407B-AEDF-5663AA3125D2}"/>
              </a:ext>
            </a:extLst>
          </p:cNvPr>
          <p:cNvGrpSpPr/>
          <p:nvPr/>
        </p:nvGrpSpPr>
        <p:grpSpPr>
          <a:xfrm>
            <a:off x="5942637" y="1378457"/>
            <a:ext cx="824876" cy="1473608"/>
            <a:chOff x="8369950" y="1298973"/>
            <a:chExt cx="824876" cy="147360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D47E89A-9EC1-4D42-A9A0-6E34A97657A4}"/>
                </a:ext>
              </a:extLst>
            </p:cNvPr>
            <p:cNvGrpSpPr/>
            <p:nvPr/>
          </p:nvGrpSpPr>
          <p:grpSpPr>
            <a:xfrm>
              <a:off x="8369950" y="1298973"/>
              <a:ext cx="824875" cy="1473608"/>
              <a:chOff x="8369950" y="1298973"/>
              <a:chExt cx="824875" cy="1473608"/>
            </a:xfrm>
          </p:grpSpPr>
          <p:pic>
            <p:nvPicPr>
              <p:cNvPr id="1030" name="Picture 6" descr="File:Nutri-score-A light background logo.svg - Wikimedia Commons">
                <a:extLst>
                  <a:ext uri="{FF2B5EF4-FFF2-40B4-BE49-F238E27FC236}">
                    <a16:creationId xmlns:a16="http://schemas.microsoft.com/office/drawing/2014/main" id="{6C00CDF5-737C-4BC8-B9DA-1DFFAA6B06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>
                <a:off x="8045584" y="1623339"/>
                <a:ext cx="1473608" cy="824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4B35237-2718-4A24-8D38-6F916069B307}"/>
                  </a:ext>
                </a:extLst>
              </p:cNvPr>
              <p:cNvSpPr/>
              <p:nvPr/>
            </p:nvSpPr>
            <p:spPr>
              <a:xfrm>
                <a:off x="8991595" y="1393670"/>
                <a:ext cx="129545" cy="10599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38D611-AC2D-4916-AAD4-14853DCDFE1E}"/>
                </a:ext>
              </a:extLst>
            </p:cNvPr>
            <p:cNvSpPr txBox="1"/>
            <p:nvPr/>
          </p:nvSpPr>
          <p:spPr>
            <a:xfrm rot="5400000">
              <a:off x="8479727" y="1758777"/>
              <a:ext cx="115319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>
                  <a:solidFill>
                    <a:srgbClr val="737071"/>
                  </a:solidFill>
                  <a:latin typeface="Lato" panose="020F0502020204030203" pitchFamily="34" charset="0"/>
                </a:rPr>
                <a:t>product score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622E0BB2-D6DF-44FA-9A1E-B397F4C25B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19" t="38731" r="33575" b="40766"/>
          <a:stretch/>
        </p:blipFill>
        <p:spPr>
          <a:xfrm>
            <a:off x="8234759" y="3795244"/>
            <a:ext cx="2095501" cy="1406127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EAB717F0-7E6A-4BEB-9294-4D4C9BE33839}"/>
              </a:ext>
            </a:extLst>
          </p:cNvPr>
          <p:cNvGrpSpPr/>
          <p:nvPr/>
        </p:nvGrpSpPr>
        <p:grpSpPr>
          <a:xfrm>
            <a:off x="3178097" y="3819614"/>
            <a:ext cx="771525" cy="733425"/>
            <a:chOff x="3233647" y="4090126"/>
            <a:chExt cx="771525" cy="733425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0FB67C0-8F04-4956-B0CD-01BED6466267}"/>
                </a:ext>
              </a:extLst>
            </p:cNvPr>
            <p:cNvSpPr/>
            <p:nvPr/>
          </p:nvSpPr>
          <p:spPr>
            <a:xfrm>
              <a:off x="3233647" y="4090126"/>
              <a:ext cx="771525" cy="733425"/>
            </a:xfrm>
            <a:prstGeom prst="roundRect">
              <a:avLst/>
            </a:prstGeom>
            <a:noFill/>
            <a:ln w="28575">
              <a:solidFill>
                <a:srgbClr val="83D48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0F32597A-517B-493F-A5E0-15B74DD71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444394" y="4174454"/>
              <a:ext cx="350029" cy="564768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052C8D9C-9562-4D61-900C-8028651B37A7}"/>
              </a:ext>
            </a:extLst>
          </p:cNvPr>
          <p:cNvGrpSpPr/>
          <p:nvPr/>
        </p:nvGrpSpPr>
        <p:grpSpPr>
          <a:xfrm>
            <a:off x="5272500" y="3819613"/>
            <a:ext cx="771525" cy="733425"/>
            <a:chOff x="4157572" y="4090126"/>
            <a:chExt cx="771525" cy="733425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FE2193E-ABCD-4365-898C-53A54A74A38E}"/>
                </a:ext>
              </a:extLst>
            </p:cNvPr>
            <p:cNvSpPr/>
            <p:nvPr/>
          </p:nvSpPr>
          <p:spPr>
            <a:xfrm>
              <a:off x="4157572" y="4090126"/>
              <a:ext cx="771525" cy="733425"/>
            </a:xfrm>
            <a:prstGeom prst="roundRect">
              <a:avLst/>
            </a:prstGeom>
            <a:noFill/>
            <a:ln w="28575">
              <a:solidFill>
                <a:srgbClr val="37AA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882CFFD1-FAD9-4D6B-83F8-36DC63D20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56896" y="4196309"/>
              <a:ext cx="572876" cy="521058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1A9F19A-4570-4B3F-9F73-4A3FE9FDC906}"/>
              </a:ext>
            </a:extLst>
          </p:cNvPr>
          <p:cNvGrpSpPr/>
          <p:nvPr/>
        </p:nvGrpSpPr>
        <p:grpSpPr>
          <a:xfrm>
            <a:off x="1083694" y="3819614"/>
            <a:ext cx="771525" cy="733425"/>
            <a:chOff x="2309722" y="4090126"/>
            <a:chExt cx="771525" cy="733425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92EC7A1-5576-44F0-82EC-D1B31CEF73C9}"/>
                </a:ext>
              </a:extLst>
            </p:cNvPr>
            <p:cNvSpPr/>
            <p:nvPr/>
          </p:nvSpPr>
          <p:spPr>
            <a:xfrm>
              <a:off x="2309722" y="4090126"/>
              <a:ext cx="771525" cy="733425"/>
            </a:xfrm>
            <a:prstGeom prst="roundRect">
              <a:avLst/>
            </a:prstGeom>
            <a:noFill/>
            <a:ln w="28575">
              <a:solidFill>
                <a:srgbClr val="F75E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4A36BA55-CC19-4E6D-8B8A-A2AE3C169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38259" y="4211821"/>
              <a:ext cx="320636" cy="490034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69258EAC-3558-43A3-B7B0-67A5513FD877}"/>
              </a:ext>
            </a:extLst>
          </p:cNvPr>
          <p:cNvSpPr txBox="1"/>
          <p:nvPr/>
        </p:nvSpPr>
        <p:spPr>
          <a:xfrm>
            <a:off x="867805" y="4624784"/>
            <a:ext cx="128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Economics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B806ED-3F01-4A91-9806-51E8C6AFEC3B}"/>
              </a:ext>
            </a:extLst>
          </p:cNvPr>
          <p:cNvSpPr txBox="1"/>
          <p:nvPr/>
        </p:nvSpPr>
        <p:spPr>
          <a:xfrm>
            <a:off x="2801880" y="4630517"/>
            <a:ext cx="152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Environment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81D41B7-775E-4C52-896B-877C139D02E9}"/>
              </a:ext>
            </a:extLst>
          </p:cNvPr>
          <p:cNvSpPr txBox="1"/>
          <p:nvPr/>
        </p:nvSpPr>
        <p:spPr>
          <a:xfrm>
            <a:off x="5243649" y="4635694"/>
            <a:ext cx="82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Safety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D61C7E0-5B7B-4376-B55A-7FAB32174DC5}"/>
              </a:ext>
            </a:extLst>
          </p:cNvPr>
          <p:cNvSpPr txBox="1"/>
          <p:nvPr/>
        </p:nvSpPr>
        <p:spPr>
          <a:xfrm>
            <a:off x="9282510" y="1930594"/>
            <a:ext cx="2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00B050"/>
                </a:solidFill>
                <a:latin typeface="Lato" panose="020F0502020204030203" pitchFamily="34" charset="0"/>
              </a:rPr>
              <a:t>green oxidant: N</a:t>
            </a:r>
            <a:r>
              <a:rPr lang="en-GB" baseline="-25000" dirty="0">
                <a:solidFill>
                  <a:srgbClr val="00B050"/>
                </a:solidFill>
                <a:latin typeface="Lato" panose="020F0502020204030203" pitchFamily="34" charset="0"/>
              </a:rPr>
              <a:t>2</a:t>
            </a:r>
            <a:r>
              <a:rPr lang="en-GB" dirty="0">
                <a:solidFill>
                  <a:srgbClr val="00B050"/>
                </a:solidFill>
                <a:latin typeface="Lato" panose="020F0502020204030203" pitchFamily="34" charset="0"/>
              </a:rPr>
              <a:t>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284A68-C0B1-42C2-A010-CF9328EAC8F9}"/>
              </a:ext>
            </a:extLst>
          </p:cNvPr>
          <p:cNvSpPr txBox="1"/>
          <p:nvPr/>
        </p:nvSpPr>
        <p:spPr>
          <a:xfrm>
            <a:off x="9155841" y="2887891"/>
            <a:ext cx="3036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Text to be included for green oxidant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89C6875-23D6-4B63-8E5F-D96E59B456A8}"/>
              </a:ext>
            </a:extLst>
          </p:cNvPr>
          <p:cNvSpPr txBox="1"/>
          <p:nvPr/>
        </p:nvSpPr>
        <p:spPr>
          <a:xfrm>
            <a:off x="6933788" y="5119387"/>
            <a:ext cx="48848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Holistic analysis with same colours as the economics/environment/safety for the left/centre/right leaf's and the middle ones being intersection colours (maybe can use the NCCR logo as well)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9176E4B-82DB-4BD4-9E4F-479D7BAFA623}"/>
              </a:ext>
            </a:extLst>
          </p:cNvPr>
          <p:cNvGrpSpPr/>
          <p:nvPr/>
        </p:nvGrpSpPr>
        <p:grpSpPr>
          <a:xfrm>
            <a:off x="1167621" y="5398853"/>
            <a:ext cx="1183020" cy="1302060"/>
            <a:chOff x="1167621" y="5398853"/>
            <a:chExt cx="1183020" cy="1302060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6A89A9B-35F6-4367-97A8-C234D2604273}"/>
                </a:ext>
              </a:extLst>
            </p:cNvPr>
            <p:cNvGrpSpPr/>
            <p:nvPr/>
          </p:nvGrpSpPr>
          <p:grpSpPr>
            <a:xfrm>
              <a:off x="1167621" y="5398853"/>
              <a:ext cx="1183020" cy="1302060"/>
              <a:chOff x="1167621" y="5398853"/>
              <a:chExt cx="1183020" cy="1302060"/>
            </a:xfrm>
          </p:grpSpPr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BD386B58-B87E-4F73-9FDA-593B9EFA406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343" t="44270" r="27394" b="32394"/>
              <a:stretch/>
            </p:blipFill>
            <p:spPr>
              <a:xfrm>
                <a:off x="1167621" y="5938518"/>
                <a:ext cx="1183020" cy="762395"/>
              </a:xfrm>
              <a:prstGeom prst="rect">
                <a:avLst/>
              </a:prstGeom>
            </p:spPr>
          </p:pic>
          <p:pic>
            <p:nvPicPr>
              <p:cNvPr id="89" name="Picture 88">
                <a:extLst>
                  <a:ext uri="{FF2B5EF4-FFF2-40B4-BE49-F238E27FC236}">
                    <a16:creationId xmlns:a16="http://schemas.microsoft.com/office/drawing/2014/main" id="{4F7353F6-798E-4988-AA97-543276D7CA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169" t="30125" r="47660" b="46094"/>
              <a:stretch/>
            </p:blipFill>
            <p:spPr>
              <a:xfrm>
                <a:off x="1472885" y="5432027"/>
                <a:ext cx="407129" cy="571675"/>
              </a:xfrm>
              <a:prstGeom prst="rect">
                <a:avLst/>
              </a:prstGeom>
            </p:spPr>
          </p:pic>
          <p:pic>
            <p:nvPicPr>
              <p:cNvPr id="91" name="Picture 90">
                <a:extLst>
                  <a:ext uri="{FF2B5EF4-FFF2-40B4-BE49-F238E27FC236}">
                    <a16:creationId xmlns:a16="http://schemas.microsoft.com/office/drawing/2014/main" id="{AEEF5761-F947-4143-966A-31304906B6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054" t="31999" r="31805" b="45519"/>
              <a:stretch/>
            </p:blipFill>
            <p:spPr>
              <a:xfrm>
                <a:off x="1862839" y="5398853"/>
                <a:ext cx="366469" cy="638021"/>
              </a:xfrm>
              <a:prstGeom prst="rect">
                <a:avLst/>
              </a:prstGeom>
            </p:spPr>
          </p:pic>
        </p:grpSp>
        <p:sp>
          <p:nvSpPr>
            <p:cNvPr id="86" name="Arc 85">
              <a:extLst>
                <a:ext uri="{FF2B5EF4-FFF2-40B4-BE49-F238E27FC236}">
                  <a16:creationId xmlns:a16="http://schemas.microsoft.com/office/drawing/2014/main" id="{9BEE4814-AD9F-46F2-8913-2F24FD4CC925}"/>
                </a:ext>
              </a:extLst>
            </p:cNvPr>
            <p:cNvSpPr/>
            <p:nvPr/>
          </p:nvSpPr>
          <p:spPr>
            <a:xfrm rot="9105628">
              <a:off x="1245424" y="5403731"/>
              <a:ext cx="1088069" cy="925109"/>
            </a:xfrm>
            <a:prstGeom prst="arc">
              <a:avLst>
                <a:gd name="adj1" fmla="val 14354137"/>
                <a:gd name="adj2" fmla="val 0"/>
              </a:avLst>
            </a:prstGeom>
            <a:ln w="571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DB86B10A-4EA4-4BC5-8964-050560708D6F}"/>
              </a:ext>
            </a:extLst>
          </p:cNvPr>
          <p:cNvSpPr txBox="1"/>
          <p:nvPr/>
        </p:nvSpPr>
        <p:spPr>
          <a:xfrm>
            <a:off x="2487603" y="5753852"/>
            <a:ext cx="152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Lato" panose="020F0502020204030203" pitchFamily="34" charset="0"/>
              </a:rPr>
              <a:t>Laughing gas</a:t>
            </a:r>
          </a:p>
        </p:txBody>
      </p:sp>
    </p:spTree>
    <p:extLst>
      <p:ext uri="{BB962C8B-B14F-4D97-AF65-F5344CB8AC3E}">
        <p14:creationId xmlns:p14="http://schemas.microsoft.com/office/powerpoint/2010/main" val="174585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8B0557C-73F3-431A-8E41-50F854AD1DE3}"/>
              </a:ext>
            </a:extLst>
          </p:cNvPr>
          <p:cNvSpPr txBox="1"/>
          <p:nvPr/>
        </p:nvSpPr>
        <p:spPr>
          <a:xfrm>
            <a:off x="361950" y="371475"/>
            <a:ext cx="3616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latin typeface="Lato" panose="020F0502020204030203" pitchFamily="34" charset="0"/>
              </a:rPr>
              <a:t>Example placement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0BF36B-6461-4D28-AF64-070C3F90FB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09" t="9111" r="19880"/>
          <a:stretch/>
        </p:blipFill>
        <p:spPr>
          <a:xfrm>
            <a:off x="3631032" y="1257300"/>
            <a:ext cx="3964310" cy="5600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154FD6-3EE7-49CF-8B26-38B4787E5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508" y="3688397"/>
            <a:ext cx="4067175" cy="55721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102AF1-F5D2-4E1E-9411-E4EAAB4D50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395" y="3908992"/>
            <a:ext cx="690563" cy="73342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2FEF454-BA4C-4F7F-9146-F6AE6D948A28}"/>
              </a:ext>
            </a:extLst>
          </p:cNvPr>
          <p:cNvGrpSpPr/>
          <p:nvPr/>
        </p:nvGrpSpPr>
        <p:grpSpPr>
          <a:xfrm>
            <a:off x="4154885" y="4045594"/>
            <a:ext cx="2080883" cy="1143280"/>
            <a:chOff x="4154885" y="4045594"/>
            <a:chExt cx="2080883" cy="1143280"/>
          </a:xfrm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B9090E2F-5C8E-4237-BA7A-4D17858C52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092" t="40600" b="42678"/>
            <a:stretch/>
          </p:blipFill>
          <p:spPr>
            <a:xfrm rot="2244499">
              <a:off x="4154885" y="4599194"/>
              <a:ext cx="2080883" cy="58968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419D130-45A1-4FA6-92A6-0879967F9989}"/>
                </a:ext>
              </a:extLst>
            </p:cNvPr>
            <p:cNvSpPr/>
            <p:nvPr/>
          </p:nvSpPr>
          <p:spPr>
            <a:xfrm rot="1162504">
              <a:off x="4275180" y="4045594"/>
              <a:ext cx="193114" cy="5019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F737CEC-7E29-414F-BC15-218BD95726F1}"/>
              </a:ext>
            </a:extLst>
          </p:cNvPr>
          <p:cNvSpPr txBox="1"/>
          <p:nvPr/>
        </p:nvSpPr>
        <p:spPr>
          <a:xfrm rot="1125176">
            <a:off x="4454626" y="5457090"/>
            <a:ext cx="219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Lato" panose="020F0502020204030203" pitchFamily="34" charset="0"/>
              </a:rPr>
              <a:t>green oxidant N</a:t>
            </a:r>
            <a:r>
              <a:rPr lang="en-GB" b="1" baseline="-25000" dirty="0">
                <a:solidFill>
                  <a:schemeClr val="bg1"/>
                </a:solidFill>
                <a:latin typeface="Lato" panose="020F0502020204030203" pitchFamily="34" charset="0"/>
              </a:rPr>
              <a:t>2</a:t>
            </a:r>
            <a:r>
              <a:rPr lang="en-GB" b="1" dirty="0">
                <a:solidFill>
                  <a:schemeClr val="bg1"/>
                </a:solidFill>
                <a:latin typeface="Lato" panose="020F0502020204030203" pitchFamily="34" charset="0"/>
              </a:rPr>
              <a:t>O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7EFF121-F477-41B1-9803-A55929E3A6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20308">
            <a:off x="3885656" y="6018896"/>
            <a:ext cx="445800" cy="793262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3AD753FD-FAA3-4C6E-BDD1-76704E460742}"/>
              </a:ext>
            </a:extLst>
          </p:cNvPr>
          <p:cNvGrpSpPr/>
          <p:nvPr/>
        </p:nvGrpSpPr>
        <p:grpSpPr>
          <a:xfrm>
            <a:off x="2973492" y="3998572"/>
            <a:ext cx="1291840" cy="961964"/>
            <a:chOff x="2973491" y="4410136"/>
            <a:chExt cx="1291840" cy="961964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754915A0-E421-4F93-9470-E85D78CC14F0}"/>
                </a:ext>
              </a:extLst>
            </p:cNvPr>
            <p:cNvSpPr/>
            <p:nvPr/>
          </p:nvSpPr>
          <p:spPr>
            <a:xfrm>
              <a:off x="2973491" y="4410136"/>
              <a:ext cx="1291840" cy="961964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AA8C0D-DA21-4932-8CA8-FAD58BB940AF}"/>
                </a:ext>
              </a:extLst>
            </p:cNvPr>
            <p:cNvSpPr txBox="1"/>
            <p:nvPr/>
          </p:nvSpPr>
          <p:spPr>
            <a:xfrm>
              <a:off x="3393227" y="4410136"/>
              <a:ext cx="4523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CH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C8AF14B-1801-4013-9BAA-66F9F452A19C}"/>
                </a:ext>
              </a:extLst>
            </p:cNvPr>
            <p:cNvSpPr txBox="1"/>
            <p:nvPr/>
          </p:nvSpPr>
          <p:spPr>
            <a:xfrm>
              <a:off x="3410059" y="4992522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CE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B231120-59F0-4593-A74C-FAA7464A5346}"/>
                </a:ext>
              </a:extLst>
            </p:cNvPr>
            <p:cNvSpPr txBox="1"/>
            <p:nvPr/>
          </p:nvSpPr>
          <p:spPr>
            <a:xfrm>
              <a:off x="3162546" y="468675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20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FAEE012-FB66-413D-B35C-A0C7F602D83E}"/>
                </a:ext>
              </a:extLst>
            </p:cNvPr>
            <p:cNvSpPr txBox="1"/>
            <p:nvPr/>
          </p:nvSpPr>
          <p:spPr>
            <a:xfrm>
              <a:off x="3716132" y="468675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56AB349-FDCE-4129-80CE-B51A85E01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62347">
            <a:off x="4406828" y="6356563"/>
            <a:ext cx="493706" cy="402700"/>
          </a:xfrm>
          <a:prstGeom prst="rect">
            <a:avLst/>
          </a:prstGeom>
        </p:spPr>
      </p:pic>
      <p:pic>
        <p:nvPicPr>
          <p:cNvPr id="70" name="Picture 2" descr="43 Veg Products Green Dot Royalty-Free Images, Stock Photos &amp; Pictures |  Shutterstock">
            <a:extLst>
              <a:ext uri="{FF2B5EF4-FFF2-40B4-BE49-F238E27FC236}">
                <a16:creationId xmlns:a16="http://schemas.microsoft.com/office/drawing/2014/main" id="{C90C7194-86B6-43B1-B727-D69043CC58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" t="12143" r="50216" b="20714"/>
          <a:stretch/>
        </p:blipFill>
        <p:spPr bwMode="auto">
          <a:xfrm rot="1101164">
            <a:off x="4146052" y="5697844"/>
            <a:ext cx="331138" cy="3160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D2C73A36-A2CE-4D11-B9C2-9BEFBF7C4CF5}"/>
              </a:ext>
            </a:extLst>
          </p:cNvPr>
          <p:cNvGrpSpPr/>
          <p:nvPr/>
        </p:nvGrpSpPr>
        <p:grpSpPr>
          <a:xfrm>
            <a:off x="4895971" y="5416629"/>
            <a:ext cx="1099635" cy="1375159"/>
            <a:chOff x="5941543" y="4545532"/>
            <a:chExt cx="1099635" cy="137515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D83C734-FD68-472E-AC1B-D55CE459E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194541">
              <a:off x="5941543" y="4545532"/>
              <a:ext cx="1099635" cy="1375159"/>
            </a:xfrm>
            <a:prstGeom prst="rect">
              <a:avLst/>
            </a:prstGeom>
          </p:spPr>
        </p:pic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44643400-801D-4859-A2F3-42C78CE87595}"/>
                </a:ext>
              </a:extLst>
            </p:cNvPr>
            <p:cNvSpPr/>
            <p:nvPr/>
          </p:nvSpPr>
          <p:spPr>
            <a:xfrm rot="9429138">
              <a:off x="6231427" y="4947140"/>
              <a:ext cx="602915" cy="453566"/>
            </a:xfrm>
            <a:prstGeom prst="arc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88" name="Graphic 87">
            <a:extLst>
              <a:ext uri="{FF2B5EF4-FFF2-40B4-BE49-F238E27FC236}">
                <a16:creationId xmlns:a16="http://schemas.microsoft.com/office/drawing/2014/main" id="{93C63A5F-038C-4FAD-8D27-679634605A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899543">
            <a:off x="5871289" y="4570710"/>
            <a:ext cx="197749" cy="302224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AB856BEB-1781-4A69-869B-856C0841C4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109424">
            <a:off x="6333491" y="4241422"/>
            <a:ext cx="395647" cy="35986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5339CDA9-7DE6-43F3-BF06-E9DFF5E63C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194513">
            <a:off x="5648637" y="3956490"/>
            <a:ext cx="209516" cy="33805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0503A0A-E167-413D-A6FE-A66B2DBDF8D9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82" t="33783" r="33405" b="29806"/>
          <a:stretch/>
        </p:blipFill>
        <p:spPr>
          <a:xfrm rot="1008703">
            <a:off x="6226147" y="6259718"/>
            <a:ext cx="528271" cy="53725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88159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Nabera  Abhinandan</dc:creator>
  <cp:lastModifiedBy>Nabera  Abhinandan</cp:lastModifiedBy>
  <cp:revision>22</cp:revision>
  <dcterms:created xsi:type="dcterms:W3CDTF">2025-12-16T10:34:26Z</dcterms:created>
  <dcterms:modified xsi:type="dcterms:W3CDTF">2025-12-16T14:41:23Z</dcterms:modified>
</cp:coreProperties>
</file>