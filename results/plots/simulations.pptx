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7"/>
  </p:notesMasterIdLst>
  <p:sldIdLst>
    <p:sldId id="2438" r:id="rId2"/>
    <p:sldId id="2439" r:id="rId3"/>
    <p:sldId id="2440" r:id="rId4"/>
    <p:sldId id="2441" r:id="rId5"/>
    <p:sldId id="2442" r:id="rId6"/>
  </p:sldIdLst>
  <p:sldSz cx="12192000" cy="6858000"/>
  <p:notesSz cx="10234613" cy="70993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Fira Sans" panose="020B0503050000020004" pitchFamily="34" charset="0"/>
      <p:regular r:id="rId12"/>
      <p:bold r:id="rId13"/>
      <p:italic r:id="rId14"/>
      <p:boldItalic r:id="rId15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050"/>
    <a:srgbClr val="B71205"/>
    <a:srgbClr val="C8415E"/>
    <a:srgbClr val="3B3838"/>
    <a:srgbClr val="167F99"/>
    <a:srgbClr val="1DABCD"/>
    <a:srgbClr val="8763C9"/>
    <a:srgbClr val="FA5649"/>
    <a:srgbClr val="808080"/>
    <a:srgbClr val="C75C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8" autoAdjust="0"/>
    <p:restoredTop sz="88803"/>
  </p:normalViewPr>
  <p:slideViewPr>
    <p:cSldViewPr>
      <p:cViewPr varScale="1">
        <p:scale>
          <a:sx n="132" d="100"/>
          <a:sy n="132" d="100"/>
        </p:scale>
        <p:origin x="162" y="32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 bwMode="auto">
          <a:xfrm>
            <a:off x="0" y="0"/>
            <a:ext cx="2494687" cy="4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 bwMode="auto">
          <a:xfrm>
            <a:off x="3260951" y="0"/>
            <a:ext cx="2494687" cy="474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 bwMode="auto">
          <a:xfrm>
            <a:off x="39688" y="1182688"/>
            <a:ext cx="5678487" cy="31956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 bwMode="auto">
          <a:xfrm>
            <a:off x="575697" y="4555384"/>
            <a:ext cx="4605576" cy="372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 bwMode="auto">
          <a:xfrm>
            <a:off x="0" y="8990804"/>
            <a:ext cx="2494687" cy="4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 bwMode="auto">
          <a:xfrm>
            <a:off x="3260951" y="8990804"/>
            <a:ext cx="2494687" cy="4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-CH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-CH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1</a:t>
            </a:fld>
            <a:endParaRPr lang="fr-CH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4197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-CH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2</a:t>
            </a:fld>
            <a:endParaRPr lang="fr-CH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5742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-CH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3</a:t>
            </a:fld>
            <a:endParaRPr lang="fr-CH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3378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-CH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4</a:t>
            </a:fld>
            <a:endParaRPr lang="fr-CH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0428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fr-CH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5</a:t>
            </a:fld>
            <a:endParaRPr lang="fr-CH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3849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Fira Sans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CH"/>
              <a:t>‹#›</a:t>
            </a:fld>
            <a:endParaRPr lang="fr-C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Vertical Text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Fira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Fira Sans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CH"/>
              <a:t>‹#›</a:t>
            </a:fld>
            <a:endParaRPr lang="fr-C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cal Title and Text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Fira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Fir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Fira Sans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CH"/>
              <a:t>‹#›</a:t>
            </a:fld>
            <a:endParaRPr lang="fr-C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Fira Sans"/>
                <a:ea typeface="Fira Sans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Fira Sans"/>
                <a:ea typeface="Fira Sans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Fira Sans"/>
                <a:ea typeface="Fira Sans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fld id="{00000000-1234-1234-1234-123412341234}" type="slidenum">
              <a:rPr lang="fr-CH"/>
              <a:t>‹#›</a:t>
            </a:fld>
            <a:endParaRPr lang="fr-CH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6" r:id="rId2"/>
    <p:sldLayoutId id="2147483657" r:id="rId3"/>
  </p:sldLayoutIdLst>
  <p:hf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Fira Sans"/>
          <a:ea typeface="Fira Sans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Fira Sans"/>
          <a:ea typeface="Fira Sans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5D8FAB8A-67CF-431D-8537-546C395E042A}"/>
              </a:ext>
            </a:extLst>
          </p:cNvPr>
          <p:cNvSpPr txBox="1"/>
          <p:nvPr/>
        </p:nvSpPr>
        <p:spPr>
          <a:xfrm>
            <a:off x="4996414" y="4799818"/>
            <a:ext cx="2464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  <a:latin typeface="Fira Sans" panose="020B0503050000020004" pitchFamily="34" charset="0"/>
              </a:rPr>
              <a:t>S1 and S2 – flash separators</a:t>
            </a:r>
          </a:p>
        </p:txBody>
      </p:sp>
      <p:sp>
        <p:nvSpPr>
          <p:cNvPr id="134" name="CustomShape 2">
            <a:extLst>
              <a:ext uri="{FF2B5EF4-FFF2-40B4-BE49-F238E27FC236}">
                <a16:creationId xmlns:a16="http://schemas.microsoft.com/office/drawing/2014/main" id="{EF998E2B-9C4A-4B16-8E67-A622499178D3}"/>
              </a:ext>
            </a:extLst>
          </p:cNvPr>
          <p:cNvSpPr/>
          <p:nvPr/>
        </p:nvSpPr>
        <p:spPr>
          <a:xfrm>
            <a:off x="11229823" y="3923562"/>
            <a:ext cx="1028823" cy="105891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  <a:sym typeface="Wingdings" pitchFamily="2" charset="2"/>
              </a:rPr>
              <a:t>Wastewater</a:t>
            </a:r>
            <a:endParaRPr lang="en-US" sz="1200" spc="-1" baseline="-25000" dirty="0">
              <a:solidFill>
                <a:schemeClr val="tx1"/>
              </a:solidFill>
              <a:latin typeface="Fira Sans" panose="020B0503050000020004" pitchFamily="34" charset="0"/>
              <a:cs typeface="Arial" panose="020B0604020202020204" pitchFamily="34" charset="0"/>
              <a:sym typeface="Wingdings" pitchFamily="2" charset="2"/>
            </a:endParaRPr>
          </a:p>
          <a:p>
            <a:pPr algn="ctr">
              <a:lnSpc>
                <a:spcPct val="90000"/>
              </a:lnSpc>
            </a:pPr>
            <a:endParaRPr lang="en-US" sz="1200" spc="-1" dirty="0">
              <a:solidFill>
                <a:schemeClr val="tx1"/>
              </a:solidFill>
              <a:latin typeface="Fira Sans" panose="020B0503050000020004" pitchFamily="34" charset="0"/>
              <a:cs typeface="Arial" panose="020B060402020202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1854997-CF04-4785-8124-258017B13440}"/>
              </a:ext>
            </a:extLst>
          </p:cNvPr>
          <p:cNvGrpSpPr/>
          <p:nvPr/>
        </p:nvGrpSpPr>
        <p:grpSpPr>
          <a:xfrm>
            <a:off x="198318" y="1474319"/>
            <a:ext cx="12060328" cy="3138238"/>
            <a:chOff x="198318" y="1474319"/>
            <a:chExt cx="12060328" cy="3138238"/>
          </a:xfrm>
        </p:grpSpPr>
        <p:sp>
          <p:nvSpPr>
            <p:cNvPr id="21" name="CustomShape 2">
              <a:extLst>
                <a:ext uri="{FF2B5EF4-FFF2-40B4-BE49-F238E27FC236}">
                  <a16:creationId xmlns:a16="http://schemas.microsoft.com/office/drawing/2014/main" id="{E2FB009B-EDF2-4266-B96D-91C77784B943}"/>
                </a:ext>
              </a:extLst>
            </p:cNvPr>
            <p:cNvSpPr/>
            <p:nvPr/>
          </p:nvSpPr>
          <p:spPr>
            <a:xfrm>
              <a:off x="198318" y="3083970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Fossil ammonia or green ammonia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BC98793-B5DC-4495-BCAF-F8E2AF2CD4A7}"/>
                </a:ext>
              </a:extLst>
            </p:cNvPr>
            <p:cNvCxnSpPr>
              <a:cxnSpLocks/>
            </p:cNvCxnSpPr>
            <p:nvPr/>
          </p:nvCxnSpPr>
          <p:spPr>
            <a:xfrm>
              <a:off x="1446809" y="3319266"/>
              <a:ext cx="360041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62AB068-D7D6-4B31-B751-CD294AB62352}"/>
                </a:ext>
              </a:extLst>
            </p:cNvPr>
            <p:cNvSpPr/>
            <p:nvPr/>
          </p:nvSpPr>
          <p:spPr>
            <a:xfrm>
              <a:off x="1806850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NO production</a:t>
              </a:r>
            </a:p>
          </p:txBody>
        </p:sp>
        <p:sp>
          <p:nvSpPr>
            <p:cNvPr id="47" name="CustomShape 2">
              <a:extLst>
                <a:ext uri="{FF2B5EF4-FFF2-40B4-BE49-F238E27FC236}">
                  <a16:creationId xmlns:a16="http://schemas.microsoft.com/office/drawing/2014/main" id="{31466969-43FF-47A0-9952-34203EE55E59}"/>
                </a:ext>
              </a:extLst>
            </p:cNvPr>
            <p:cNvSpPr/>
            <p:nvPr/>
          </p:nvSpPr>
          <p:spPr>
            <a:xfrm>
              <a:off x="1865240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770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1 bar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3F3F5C7-8036-4B9A-913A-011EC9A042AE}"/>
                </a:ext>
              </a:extLst>
            </p:cNvPr>
            <p:cNvCxnSpPr>
              <a:cxnSpLocks/>
              <a:stCxn id="39" idx="3"/>
              <a:endCxn id="66" idx="1"/>
            </p:cNvCxnSpPr>
            <p:nvPr/>
          </p:nvCxnSpPr>
          <p:spPr>
            <a:xfrm>
              <a:off x="3319018" y="3320768"/>
              <a:ext cx="326343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F2AE57A-3D3D-4BBF-A4B8-E3702F4A3510}"/>
                </a:ext>
              </a:extLst>
            </p:cNvPr>
            <p:cNvSpPr/>
            <p:nvPr/>
          </p:nvSpPr>
          <p:spPr>
            <a:xfrm>
              <a:off x="3645361" y="2960728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S1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E5D1DB71-DB47-48D0-80EC-8A24C194144E}"/>
                </a:ext>
              </a:extLst>
            </p:cNvPr>
            <p:cNvCxnSpPr>
              <a:cxnSpLocks/>
              <a:stCxn id="66" idx="3"/>
              <a:endCxn id="111" idx="1"/>
            </p:cNvCxnSpPr>
            <p:nvPr/>
          </p:nvCxnSpPr>
          <p:spPr>
            <a:xfrm>
              <a:off x="4032579" y="3320768"/>
              <a:ext cx="359790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D3B748F-83E3-4C64-B75E-D30E9065B4FB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>
              <a:off x="3838970" y="3680808"/>
              <a:ext cx="0" cy="558246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CustomShape 2">
              <a:extLst>
                <a:ext uri="{FF2B5EF4-FFF2-40B4-BE49-F238E27FC236}">
                  <a16:creationId xmlns:a16="http://schemas.microsoft.com/office/drawing/2014/main" id="{449032A1-9EA2-4D89-BB19-507D1BD7217D}"/>
                </a:ext>
              </a:extLst>
            </p:cNvPr>
            <p:cNvSpPr/>
            <p:nvPr/>
          </p:nvSpPr>
          <p:spPr>
            <a:xfrm>
              <a:off x="3274591" y="4174669"/>
              <a:ext cx="1128757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rm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Wastewater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FE21AD-E671-4409-9673-9C0A709E5596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2562934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stomShape 2">
              <a:extLst>
                <a:ext uri="{FF2B5EF4-FFF2-40B4-BE49-F238E27FC236}">
                  <a16:creationId xmlns:a16="http://schemas.microsoft.com/office/drawing/2014/main" id="{74A1EC9B-3517-45B5-AC31-4175C57BE63C}"/>
                </a:ext>
              </a:extLst>
            </p:cNvPr>
            <p:cNvSpPr/>
            <p:nvPr/>
          </p:nvSpPr>
          <p:spPr>
            <a:xfrm>
              <a:off x="2251854" y="1562990"/>
              <a:ext cx="755239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rm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Oxygen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4BF26761-D956-47A9-A346-64D4319AF37A}"/>
                </a:ext>
              </a:extLst>
            </p:cNvPr>
            <p:cNvSpPr/>
            <p:nvPr/>
          </p:nvSpPr>
          <p:spPr>
            <a:xfrm>
              <a:off x="6204114" y="2959226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Nitric acid production</a:t>
              </a:r>
            </a:p>
          </p:txBody>
        </p:sp>
        <p:sp>
          <p:nvSpPr>
            <p:cNvPr id="82" name="CustomShape 2">
              <a:extLst>
                <a:ext uri="{FF2B5EF4-FFF2-40B4-BE49-F238E27FC236}">
                  <a16:creationId xmlns:a16="http://schemas.microsoft.com/office/drawing/2014/main" id="{5267D28E-A1D3-4ED8-BEC6-8BE3450DC7C9}"/>
                </a:ext>
              </a:extLst>
            </p:cNvPr>
            <p:cNvSpPr/>
            <p:nvPr/>
          </p:nvSpPr>
          <p:spPr>
            <a:xfrm>
              <a:off x="6240116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38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8 bar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FB0CEA6-91BC-4507-8F8E-7EAFA44FE50B}"/>
                </a:ext>
              </a:extLst>
            </p:cNvPr>
            <p:cNvCxnSpPr>
              <a:cxnSpLocks/>
            </p:cNvCxnSpPr>
            <p:nvPr/>
          </p:nvCxnSpPr>
          <p:spPr>
            <a:xfrm>
              <a:off x="6957790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ustomShape 2">
              <a:extLst>
                <a:ext uri="{FF2B5EF4-FFF2-40B4-BE49-F238E27FC236}">
                  <a16:creationId xmlns:a16="http://schemas.microsoft.com/office/drawing/2014/main" id="{74C59639-D6E9-4620-A426-8E64BD8C58A9}"/>
                </a:ext>
              </a:extLst>
            </p:cNvPr>
            <p:cNvSpPr/>
            <p:nvPr/>
          </p:nvSpPr>
          <p:spPr>
            <a:xfrm>
              <a:off x="6646710" y="1562990"/>
              <a:ext cx="755239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rm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Water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C80C501C-809C-42BB-8A89-5FBC7BBB1859}"/>
                </a:ext>
              </a:extLst>
            </p:cNvPr>
            <p:cNvSpPr/>
            <p:nvPr/>
          </p:nvSpPr>
          <p:spPr>
            <a:xfrm>
              <a:off x="8040216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Ammonium nitrate production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2B2B2CA-F842-49D6-8BD2-44E405504529}"/>
                </a:ext>
              </a:extLst>
            </p:cNvPr>
            <p:cNvCxnSpPr>
              <a:cxnSpLocks/>
              <a:stCxn id="67" idx="3"/>
              <a:endCxn id="93" idx="1"/>
            </p:cNvCxnSpPr>
            <p:nvPr/>
          </p:nvCxnSpPr>
          <p:spPr>
            <a:xfrm>
              <a:off x="7716282" y="3319266"/>
              <a:ext cx="323934" cy="1502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CustomShape 2">
              <a:extLst>
                <a:ext uri="{FF2B5EF4-FFF2-40B4-BE49-F238E27FC236}">
                  <a16:creationId xmlns:a16="http://schemas.microsoft.com/office/drawing/2014/main" id="{99439E33-07CB-4240-A02C-AEB7F47E571C}"/>
                </a:ext>
              </a:extLst>
            </p:cNvPr>
            <p:cNvSpPr/>
            <p:nvPr/>
          </p:nvSpPr>
          <p:spPr>
            <a:xfrm>
              <a:off x="8026504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149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1 bar</a:t>
              </a: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0AE4D73-DE5C-46CF-B21D-9227C80B62FB}"/>
                </a:ext>
              </a:extLst>
            </p:cNvPr>
            <p:cNvCxnSpPr>
              <a:cxnSpLocks/>
            </p:cNvCxnSpPr>
            <p:nvPr/>
          </p:nvCxnSpPr>
          <p:spPr>
            <a:xfrm>
              <a:off x="8400256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CustomShape 2">
              <a:extLst>
                <a:ext uri="{FF2B5EF4-FFF2-40B4-BE49-F238E27FC236}">
                  <a16:creationId xmlns:a16="http://schemas.microsoft.com/office/drawing/2014/main" id="{A5AD8C6B-3723-421A-B31A-6622A03E1B0D}"/>
                </a:ext>
              </a:extLst>
            </p:cNvPr>
            <p:cNvSpPr/>
            <p:nvPr/>
          </p:nvSpPr>
          <p:spPr>
            <a:xfrm>
              <a:off x="7644172" y="1474319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Fossil ammonia or green ammonia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48B3BE78-9602-4486-BE40-4255D80094C7}"/>
                </a:ext>
              </a:extLst>
            </p:cNvPr>
            <p:cNvSpPr/>
            <p:nvPr/>
          </p:nvSpPr>
          <p:spPr>
            <a:xfrm>
              <a:off x="4392369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NO</a:t>
              </a:r>
              <a:r>
                <a:rPr lang="en-GB" sz="1200" baseline="-25000" dirty="0">
                  <a:latin typeface="Fira Sans" panose="020B0604020202020204" charset="0"/>
                </a:rPr>
                <a:t>2</a:t>
              </a:r>
              <a:r>
                <a:rPr lang="en-GB" sz="1200" dirty="0">
                  <a:latin typeface="Fira Sans" panose="020B0604020202020204" charset="0"/>
                </a:rPr>
                <a:t> production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FB23255-04BB-46A5-BE2F-9F8A7BBB7CEF}"/>
                </a:ext>
              </a:extLst>
            </p:cNvPr>
            <p:cNvCxnSpPr>
              <a:cxnSpLocks/>
              <a:stCxn id="111" idx="3"/>
              <a:endCxn id="67" idx="1"/>
            </p:cNvCxnSpPr>
            <p:nvPr/>
          </p:nvCxnSpPr>
          <p:spPr>
            <a:xfrm flipV="1">
              <a:off x="5904537" y="3319266"/>
              <a:ext cx="299577" cy="1502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CustomShape 2">
              <a:extLst>
                <a:ext uri="{FF2B5EF4-FFF2-40B4-BE49-F238E27FC236}">
                  <a16:creationId xmlns:a16="http://schemas.microsoft.com/office/drawing/2014/main" id="{7545D596-31AA-4F90-AFEE-46CDD8EAD1C5}"/>
                </a:ext>
              </a:extLst>
            </p:cNvPr>
            <p:cNvSpPr/>
            <p:nvPr/>
          </p:nvSpPr>
          <p:spPr>
            <a:xfrm>
              <a:off x="4428372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38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8 bar</a:t>
              </a:r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3623F530-F167-4CD0-BAC7-F5A5DE1748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344" y="2419386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CustomShape 2">
              <a:extLst>
                <a:ext uri="{FF2B5EF4-FFF2-40B4-BE49-F238E27FC236}">
                  <a16:creationId xmlns:a16="http://schemas.microsoft.com/office/drawing/2014/main" id="{52A6A9C7-295C-43BC-8677-8694F1AFB494}"/>
                </a:ext>
              </a:extLst>
            </p:cNvPr>
            <p:cNvSpPr/>
            <p:nvPr/>
          </p:nvSpPr>
          <p:spPr>
            <a:xfrm>
              <a:off x="8826952" y="2092227"/>
              <a:ext cx="833636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Nitrogen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Rectangle: Rounded Corners 120">
              <a:extLst>
                <a:ext uri="{FF2B5EF4-FFF2-40B4-BE49-F238E27FC236}">
                  <a16:creationId xmlns:a16="http://schemas.microsoft.com/office/drawing/2014/main" id="{1828BF54-1235-4E31-8D5B-0D401EC61EE8}"/>
                </a:ext>
              </a:extLst>
            </p:cNvPr>
            <p:cNvSpPr/>
            <p:nvPr/>
          </p:nvSpPr>
          <p:spPr>
            <a:xfrm>
              <a:off x="9797818" y="2959977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Ammonium nitrate thermal decomposition</a:t>
              </a: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D6172574-29E5-4909-A49F-367030EC2DC6}"/>
                </a:ext>
              </a:extLst>
            </p:cNvPr>
            <p:cNvCxnSpPr>
              <a:cxnSpLocks/>
              <a:stCxn id="93" idx="3"/>
              <a:endCxn id="121" idx="1"/>
            </p:cNvCxnSpPr>
            <p:nvPr/>
          </p:nvCxnSpPr>
          <p:spPr>
            <a:xfrm flipV="1">
              <a:off x="9552384" y="3320017"/>
              <a:ext cx="245434" cy="751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3B88D80A-EA99-484B-84F9-1BF1A5C087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1286" y="2431270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CustomShape 2">
              <a:extLst>
                <a:ext uri="{FF2B5EF4-FFF2-40B4-BE49-F238E27FC236}">
                  <a16:creationId xmlns:a16="http://schemas.microsoft.com/office/drawing/2014/main" id="{A9483F08-A416-4E22-B912-D234C0BC364D}"/>
                </a:ext>
              </a:extLst>
            </p:cNvPr>
            <p:cNvSpPr/>
            <p:nvPr/>
          </p:nvSpPr>
          <p:spPr>
            <a:xfrm>
              <a:off x="10039490" y="1781934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NO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NO</a:t>
              </a: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41714CF9-A3C0-4A39-8A53-80F5E68A63EA}"/>
                </a:ext>
              </a:extLst>
            </p:cNvPr>
            <p:cNvSpPr/>
            <p:nvPr/>
          </p:nvSpPr>
          <p:spPr>
            <a:xfrm>
              <a:off x="11555420" y="2959977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S2</a:t>
              </a:r>
            </a:p>
          </p:txBody>
        </p: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55FA22B3-4B4B-4CC5-ACB8-40A11A72586A}"/>
                </a:ext>
              </a:extLst>
            </p:cNvPr>
            <p:cNvCxnSpPr>
              <a:cxnSpLocks/>
              <a:stCxn id="121" idx="3"/>
              <a:endCxn id="125" idx="1"/>
            </p:cNvCxnSpPr>
            <p:nvPr/>
          </p:nvCxnSpPr>
          <p:spPr>
            <a:xfrm>
              <a:off x="11309986" y="3320017"/>
              <a:ext cx="245434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418642FE-6691-47F6-BFF1-A919644BF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44235" y="2419386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CustomShape 2">
              <a:extLst>
                <a:ext uri="{FF2B5EF4-FFF2-40B4-BE49-F238E27FC236}">
                  <a16:creationId xmlns:a16="http://schemas.microsoft.com/office/drawing/2014/main" id="{2D8862CB-0201-45E8-B571-AAF83FADD597}"/>
                </a:ext>
              </a:extLst>
            </p:cNvPr>
            <p:cNvSpPr/>
            <p:nvPr/>
          </p:nvSpPr>
          <p:spPr>
            <a:xfrm>
              <a:off x="11229823" y="1841498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N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</a:t>
              </a:r>
              <a:endParaRPr lang="en-US" sz="1200" spc="-1" baseline="-25000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  <a:sym typeface="Wingdings" pitchFamily="2" charset="2"/>
              </a:endParaRP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7787A92C-C2E8-4DF5-B53B-05830D1D3309}"/>
                </a:ext>
              </a:extLst>
            </p:cNvPr>
            <p:cNvCxnSpPr>
              <a:cxnSpLocks/>
            </p:cNvCxnSpPr>
            <p:nvPr/>
          </p:nvCxnSpPr>
          <p:spPr>
            <a:xfrm>
              <a:off x="11744234" y="3673533"/>
              <a:ext cx="0" cy="558246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CustomShape 2">
              <a:extLst>
                <a:ext uri="{FF2B5EF4-FFF2-40B4-BE49-F238E27FC236}">
                  <a16:creationId xmlns:a16="http://schemas.microsoft.com/office/drawing/2014/main" id="{C79D9E04-3BE1-4171-ADB1-FA3A616AD64C}"/>
                </a:ext>
              </a:extLst>
            </p:cNvPr>
            <p:cNvSpPr/>
            <p:nvPr/>
          </p:nvSpPr>
          <p:spPr>
            <a:xfrm>
              <a:off x="9825666" y="3667947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260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1 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5167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5D8FAB8A-67CF-431D-8537-546C395E042A}"/>
              </a:ext>
            </a:extLst>
          </p:cNvPr>
          <p:cNvSpPr txBox="1"/>
          <p:nvPr/>
        </p:nvSpPr>
        <p:spPr>
          <a:xfrm>
            <a:off x="1406999" y="4784270"/>
            <a:ext cx="17876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  <a:latin typeface="Fira Sans" panose="020B0503050000020004" pitchFamily="34" charset="0"/>
              </a:rPr>
              <a:t>S1 – flash separator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107A587-DA2F-4FA8-A055-6B182BBC4297}"/>
              </a:ext>
            </a:extLst>
          </p:cNvPr>
          <p:cNvGrpSpPr/>
          <p:nvPr/>
        </p:nvGrpSpPr>
        <p:grpSpPr>
          <a:xfrm>
            <a:off x="198318" y="1562990"/>
            <a:ext cx="4205030" cy="3049567"/>
            <a:chOff x="198318" y="1562990"/>
            <a:chExt cx="4205030" cy="3049567"/>
          </a:xfrm>
        </p:grpSpPr>
        <p:sp>
          <p:nvSpPr>
            <p:cNvPr id="21" name="CustomShape 2">
              <a:extLst>
                <a:ext uri="{FF2B5EF4-FFF2-40B4-BE49-F238E27FC236}">
                  <a16:creationId xmlns:a16="http://schemas.microsoft.com/office/drawing/2014/main" id="{E2FB009B-EDF2-4266-B96D-91C77784B943}"/>
                </a:ext>
              </a:extLst>
            </p:cNvPr>
            <p:cNvSpPr/>
            <p:nvPr/>
          </p:nvSpPr>
          <p:spPr>
            <a:xfrm>
              <a:off x="198318" y="3083970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Fossil ammonia or green ammonia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BC98793-B5DC-4495-BCAF-F8E2AF2CD4A7}"/>
                </a:ext>
              </a:extLst>
            </p:cNvPr>
            <p:cNvCxnSpPr>
              <a:cxnSpLocks/>
            </p:cNvCxnSpPr>
            <p:nvPr/>
          </p:nvCxnSpPr>
          <p:spPr>
            <a:xfrm>
              <a:off x="1446809" y="3319266"/>
              <a:ext cx="360041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62AB068-D7D6-4B31-B751-CD294AB62352}"/>
                </a:ext>
              </a:extLst>
            </p:cNvPr>
            <p:cNvSpPr/>
            <p:nvPr/>
          </p:nvSpPr>
          <p:spPr>
            <a:xfrm>
              <a:off x="1806850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Direct ammonia oxidation</a:t>
              </a:r>
            </a:p>
          </p:txBody>
        </p:sp>
        <p:sp>
          <p:nvSpPr>
            <p:cNvPr id="47" name="CustomShape 2">
              <a:extLst>
                <a:ext uri="{FF2B5EF4-FFF2-40B4-BE49-F238E27FC236}">
                  <a16:creationId xmlns:a16="http://schemas.microsoft.com/office/drawing/2014/main" id="{31466969-43FF-47A0-9952-34203EE55E59}"/>
                </a:ext>
              </a:extLst>
            </p:cNvPr>
            <p:cNvSpPr/>
            <p:nvPr/>
          </p:nvSpPr>
          <p:spPr>
            <a:xfrm>
              <a:off x="1865240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350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1 bar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3F3F5C7-8036-4B9A-913A-011EC9A042AE}"/>
                </a:ext>
              </a:extLst>
            </p:cNvPr>
            <p:cNvCxnSpPr>
              <a:cxnSpLocks/>
              <a:stCxn id="39" idx="3"/>
              <a:endCxn id="66" idx="1"/>
            </p:cNvCxnSpPr>
            <p:nvPr/>
          </p:nvCxnSpPr>
          <p:spPr>
            <a:xfrm>
              <a:off x="3319018" y="3320768"/>
              <a:ext cx="326343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F2AE57A-3D3D-4BBF-A4B8-E3702F4A3510}"/>
                </a:ext>
              </a:extLst>
            </p:cNvPr>
            <p:cNvSpPr/>
            <p:nvPr/>
          </p:nvSpPr>
          <p:spPr>
            <a:xfrm>
              <a:off x="3645361" y="2960728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S1</a:t>
              </a:r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D3B748F-83E3-4C64-B75E-D30E9065B4FB}"/>
                </a:ext>
              </a:extLst>
            </p:cNvPr>
            <p:cNvCxnSpPr>
              <a:cxnSpLocks/>
              <a:stCxn id="66" idx="2"/>
            </p:cNvCxnSpPr>
            <p:nvPr/>
          </p:nvCxnSpPr>
          <p:spPr>
            <a:xfrm>
              <a:off x="3838970" y="3680808"/>
              <a:ext cx="0" cy="558246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CustomShape 2">
              <a:extLst>
                <a:ext uri="{FF2B5EF4-FFF2-40B4-BE49-F238E27FC236}">
                  <a16:creationId xmlns:a16="http://schemas.microsoft.com/office/drawing/2014/main" id="{449032A1-9EA2-4D89-BB19-507D1BD7217D}"/>
                </a:ext>
              </a:extLst>
            </p:cNvPr>
            <p:cNvSpPr/>
            <p:nvPr/>
          </p:nvSpPr>
          <p:spPr>
            <a:xfrm>
              <a:off x="3274591" y="4174669"/>
              <a:ext cx="1128757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rm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Wastewater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FE21AD-E671-4409-9673-9C0A709E5596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2562934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stomShape 2">
              <a:extLst>
                <a:ext uri="{FF2B5EF4-FFF2-40B4-BE49-F238E27FC236}">
                  <a16:creationId xmlns:a16="http://schemas.microsoft.com/office/drawing/2014/main" id="{74A1EC9B-3517-45B5-AC31-4175C57BE63C}"/>
                </a:ext>
              </a:extLst>
            </p:cNvPr>
            <p:cNvSpPr/>
            <p:nvPr/>
          </p:nvSpPr>
          <p:spPr>
            <a:xfrm>
              <a:off x="2251854" y="1562990"/>
              <a:ext cx="755239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rm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Oxygen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418642FE-6691-47F6-BFF1-A919644BF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8969" y="2420888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CustomShape 2">
              <a:extLst>
                <a:ext uri="{FF2B5EF4-FFF2-40B4-BE49-F238E27FC236}">
                  <a16:creationId xmlns:a16="http://schemas.microsoft.com/office/drawing/2014/main" id="{2D8862CB-0201-45E8-B571-AAF83FADD597}"/>
                </a:ext>
              </a:extLst>
            </p:cNvPr>
            <p:cNvSpPr/>
            <p:nvPr/>
          </p:nvSpPr>
          <p:spPr>
            <a:xfrm>
              <a:off x="3324557" y="1853795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N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</a:t>
              </a:r>
              <a:endParaRPr lang="en-US" sz="1200" spc="-1" baseline="-25000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  <a:sym typeface="Wingdings" pitchFamily="2" charset="2"/>
              </a:endParaRP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837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5D8FAB8A-67CF-431D-8537-546C395E042A}"/>
              </a:ext>
            </a:extLst>
          </p:cNvPr>
          <p:cNvSpPr txBox="1"/>
          <p:nvPr/>
        </p:nvSpPr>
        <p:spPr>
          <a:xfrm>
            <a:off x="4142877" y="4824226"/>
            <a:ext cx="21050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  <a:latin typeface="Fira Sans" panose="020B0503050000020004" pitchFamily="34" charset="0"/>
              </a:rPr>
              <a:t>S1 – flash separator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Fira Sans" panose="020B0503050000020004" pitchFamily="34" charset="0"/>
              </a:rPr>
              <a:t>C1 – extraction column</a:t>
            </a:r>
          </a:p>
          <a:p>
            <a:pPr algn="ctr"/>
            <a:r>
              <a:rPr lang="en-GB" dirty="0">
                <a:solidFill>
                  <a:schemeClr val="tx1"/>
                </a:solidFill>
                <a:latin typeface="Fira Sans" panose="020B0503050000020004" pitchFamily="34" charset="0"/>
              </a:rPr>
              <a:t>C2 – distillation column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5A677E6-B7EF-41C9-9E60-285E0B275581}"/>
              </a:ext>
            </a:extLst>
          </p:cNvPr>
          <p:cNvGrpSpPr/>
          <p:nvPr/>
        </p:nvGrpSpPr>
        <p:grpSpPr>
          <a:xfrm>
            <a:off x="198318" y="1463925"/>
            <a:ext cx="9994181" cy="3173850"/>
            <a:chOff x="198318" y="1463925"/>
            <a:chExt cx="9994181" cy="3173850"/>
          </a:xfrm>
        </p:grpSpPr>
        <p:sp>
          <p:nvSpPr>
            <p:cNvPr id="21" name="CustomShape 2">
              <a:extLst>
                <a:ext uri="{FF2B5EF4-FFF2-40B4-BE49-F238E27FC236}">
                  <a16:creationId xmlns:a16="http://schemas.microsoft.com/office/drawing/2014/main" id="{E2FB009B-EDF2-4266-B96D-91C77784B943}"/>
                </a:ext>
              </a:extLst>
            </p:cNvPr>
            <p:cNvSpPr/>
            <p:nvPr/>
          </p:nvSpPr>
          <p:spPr>
            <a:xfrm>
              <a:off x="198318" y="3083970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Fossil hydrogen or green hydrogen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BC98793-B5DC-4495-BCAF-F8E2AF2CD4A7}"/>
                </a:ext>
              </a:extLst>
            </p:cNvPr>
            <p:cNvCxnSpPr>
              <a:cxnSpLocks/>
            </p:cNvCxnSpPr>
            <p:nvPr/>
          </p:nvCxnSpPr>
          <p:spPr>
            <a:xfrm>
              <a:off x="1446809" y="3319266"/>
              <a:ext cx="360041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62AB068-D7D6-4B31-B751-CD294AB62352}"/>
                </a:ext>
              </a:extLst>
            </p:cNvPr>
            <p:cNvSpPr/>
            <p:nvPr/>
          </p:nvSpPr>
          <p:spPr>
            <a:xfrm>
              <a:off x="1806850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Hydroquinone production</a:t>
              </a:r>
            </a:p>
          </p:txBody>
        </p:sp>
        <p:sp>
          <p:nvSpPr>
            <p:cNvPr id="47" name="CustomShape 2">
              <a:extLst>
                <a:ext uri="{FF2B5EF4-FFF2-40B4-BE49-F238E27FC236}">
                  <a16:creationId xmlns:a16="http://schemas.microsoft.com/office/drawing/2014/main" id="{31466969-43FF-47A0-9952-34203EE55E59}"/>
                </a:ext>
              </a:extLst>
            </p:cNvPr>
            <p:cNvSpPr/>
            <p:nvPr/>
          </p:nvSpPr>
          <p:spPr>
            <a:xfrm>
              <a:off x="1865240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36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2 bar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3F3F5C7-8036-4B9A-913A-011EC9A042AE}"/>
                </a:ext>
              </a:extLst>
            </p:cNvPr>
            <p:cNvCxnSpPr>
              <a:cxnSpLocks/>
              <a:stCxn id="39" idx="3"/>
              <a:endCxn id="66" idx="1"/>
            </p:cNvCxnSpPr>
            <p:nvPr/>
          </p:nvCxnSpPr>
          <p:spPr>
            <a:xfrm>
              <a:off x="3319018" y="3320768"/>
              <a:ext cx="326343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F2AE57A-3D3D-4BBF-A4B8-E3702F4A3510}"/>
                </a:ext>
              </a:extLst>
            </p:cNvPr>
            <p:cNvSpPr/>
            <p:nvPr/>
          </p:nvSpPr>
          <p:spPr>
            <a:xfrm>
              <a:off x="3645361" y="2960728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S1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FE21AD-E671-4409-9673-9C0A709E5596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2562934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stomShape 2">
              <a:extLst>
                <a:ext uri="{FF2B5EF4-FFF2-40B4-BE49-F238E27FC236}">
                  <a16:creationId xmlns:a16="http://schemas.microsoft.com/office/drawing/2014/main" id="{74A1EC9B-3517-45B5-AC31-4175C57BE63C}"/>
                </a:ext>
              </a:extLst>
            </p:cNvPr>
            <p:cNvSpPr/>
            <p:nvPr/>
          </p:nvSpPr>
          <p:spPr>
            <a:xfrm>
              <a:off x="2063552" y="1463925"/>
              <a:ext cx="1323866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2-Ethyl anthraquinone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4BF26761-D956-47A9-A346-64D4319AF37A}"/>
                </a:ext>
              </a:extLst>
            </p:cNvPr>
            <p:cNvSpPr/>
            <p:nvPr/>
          </p:nvSpPr>
          <p:spPr>
            <a:xfrm>
              <a:off x="6204114" y="2959226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H</a:t>
              </a:r>
              <a:r>
                <a:rPr lang="en-GB" sz="1200" baseline="-25000" dirty="0">
                  <a:latin typeface="Fira Sans" panose="020B0604020202020204" charset="0"/>
                </a:rPr>
                <a:t>2</a:t>
              </a:r>
              <a:r>
                <a:rPr lang="en-GB" sz="1200" dirty="0">
                  <a:latin typeface="Fira Sans" panose="020B0604020202020204" charset="0"/>
                </a:rPr>
                <a:t>O</a:t>
              </a:r>
              <a:r>
                <a:rPr lang="en-GB" sz="1200" baseline="-25000" dirty="0">
                  <a:latin typeface="Fira Sans" panose="020B0604020202020204" charset="0"/>
                </a:rPr>
                <a:t>2</a:t>
              </a:r>
              <a:r>
                <a:rPr lang="en-GB" sz="1200" dirty="0">
                  <a:latin typeface="Fira Sans" panose="020B0604020202020204" charset="0"/>
                </a:rPr>
                <a:t> production</a:t>
              </a:r>
            </a:p>
          </p:txBody>
        </p:sp>
        <p:sp>
          <p:nvSpPr>
            <p:cNvPr id="82" name="CustomShape 2">
              <a:extLst>
                <a:ext uri="{FF2B5EF4-FFF2-40B4-BE49-F238E27FC236}">
                  <a16:creationId xmlns:a16="http://schemas.microsoft.com/office/drawing/2014/main" id="{5267D28E-A1D3-4ED8-BEC6-8BE3450DC7C9}"/>
                </a:ext>
              </a:extLst>
            </p:cNvPr>
            <p:cNvSpPr/>
            <p:nvPr/>
          </p:nvSpPr>
          <p:spPr>
            <a:xfrm>
              <a:off x="6240116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25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10 bar</a:t>
              </a:r>
            </a:p>
          </p:txBody>
        </p: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FB0CEA6-91BC-4507-8F8E-7EAFA44FE50B}"/>
                </a:ext>
              </a:extLst>
            </p:cNvPr>
            <p:cNvCxnSpPr>
              <a:cxnSpLocks/>
            </p:cNvCxnSpPr>
            <p:nvPr/>
          </p:nvCxnSpPr>
          <p:spPr>
            <a:xfrm>
              <a:off x="6957790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ustomShape 2">
              <a:extLst>
                <a:ext uri="{FF2B5EF4-FFF2-40B4-BE49-F238E27FC236}">
                  <a16:creationId xmlns:a16="http://schemas.microsoft.com/office/drawing/2014/main" id="{74C59639-D6E9-4620-A426-8E64BD8C58A9}"/>
                </a:ext>
              </a:extLst>
            </p:cNvPr>
            <p:cNvSpPr/>
            <p:nvPr/>
          </p:nvSpPr>
          <p:spPr>
            <a:xfrm>
              <a:off x="6625075" y="1562869"/>
              <a:ext cx="755239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rm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Oxygen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2B2B2CA-F842-49D6-8BD2-44E405504529}"/>
                </a:ext>
              </a:extLst>
            </p:cNvPr>
            <p:cNvCxnSpPr>
              <a:cxnSpLocks/>
              <a:stCxn id="67" idx="3"/>
            </p:cNvCxnSpPr>
            <p:nvPr/>
          </p:nvCxnSpPr>
          <p:spPr>
            <a:xfrm>
              <a:off x="7716282" y="3319266"/>
              <a:ext cx="323934" cy="1502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E0AE4D73-DE5C-46CF-B21D-9227C80B62FB}"/>
                </a:ext>
              </a:extLst>
            </p:cNvPr>
            <p:cNvCxnSpPr>
              <a:cxnSpLocks/>
            </p:cNvCxnSpPr>
            <p:nvPr/>
          </p:nvCxnSpPr>
          <p:spPr>
            <a:xfrm>
              <a:off x="8242651" y="2497235"/>
              <a:ext cx="0" cy="473887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CustomShape 2">
              <a:extLst>
                <a:ext uri="{FF2B5EF4-FFF2-40B4-BE49-F238E27FC236}">
                  <a16:creationId xmlns:a16="http://schemas.microsoft.com/office/drawing/2014/main" id="{A5AD8C6B-3723-421A-B31A-6622A03E1B0D}"/>
                </a:ext>
              </a:extLst>
            </p:cNvPr>
            <p:cNvSpPr/>
            <p:nvPr/>
          </p:nvSpPr>
          <p:spPr>
            <a:xfrm>
              <a:off x="7481774" y="2138697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Water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48B3BE78-9602-4486-BE40-4255D80094C7}"/>
                </a:ext>
              </a:extLst>
            </p:cNvPr>
            <p:cNvSpPr/>
            <p:nvPr/>
          </p:nvSpPr>
          <p:spPr>
            <a:xfrm>
              <a:off x="4392369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NO</a:t>
              </a:r>
              <a:r>
                <a:rPr lang="en-GB" sz="1200" baseline="-25000" dirty="0">
                  <a:latin typeface="Fira Sans" panose="020B0604020202020204" charset="0"/>
                </a:rPr>
                <a:t>2</a:t>
              </a:r>
              <a:r>
                <a:rPr lang="en-GB" sz="1200" dirty="0">
                  <a:latin typeface="Fira Sans" panose="020B0604020202020204" charset="0"/>
                </a:rPr>
                <a:t> production</a:t>
              </a: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FB23255-04BB-46A5-BE2F-9F8A7BBB7CEF}"/>
                </a:ext>
              </a:extLst>
            </p:cNvPr>
            <p:cNvCxnSpPr>
              <a:cxnSpLocks/>
              <a:stCxn id="111" idx="3"/>
              <a:endCxn id="67" idx="1"/>
            </p:cNvCxnSpPr>
            <p:nvPr/>
          </p:nvCxnSpPr>
          <p:spPr>
            <a:xfrm flipV="1">
              <a:off x="5904537" y="3319266"/>
              <a:ext cx="299577" cy="1502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CustomShape 2">
              <a:extLst>
                <a:ext uri="{FF2B5EF4-FFF2-40B4-BE49-F238E27FC236}">
                  <a16:creationId xmlns:a16="http://schemas.microsoft.com/office/drawing/2014/main" id="{7545D596-31AA-4F90-AFEE-46CDD8EAD1C5}"/>
                </a:ext>
              </a:extLst>
            </p:cNvPr>
            <p:cNvSpPr/>
            <p:nvPr/>
          </p:nvSpPr>
          <p:spPr>
            <a:xfrm>
              <a:off x="4428372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38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8 bar</a:t>
              </a: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41714CF9-A3C0-4A39-8A53-80F5E68A63EA}"/>
                </a:ext>
              </a:extLst>
            </p:cNvPr>
            <p:cNvSpPr/>
            <p:nvPr/>
          </p:nvSpPr>
          <p:spPr>
            <a:xfrm>
              <a:off x="9228450" y="2953453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C2</a:t>
              </a:r>
            </a:p>
          </p:txBody>
        </p:sp>
        <p:cxnSp>
          <p:nvCxnSpPr>
            <p:cNvPr id="3" name="Connector: Elbow 2">
              <a:extLst>
                <a:ext uri="{FF2B5EF4-FFF2-40B4-BE49-F238E27FC236}">
                  <a16:creationId xmlns:a16="http://schemas.microsoft.com/office/drawing/2014/main" id="{8F73E44D-09D9-43DF-A126-F09D0634E4C7}"/>
                </a:ext>
              </a:extLst>
            </p:cNvPr>
            <p:cNvCxnSpPr>
              <a:stCxn id="66" idx="2"/>
              <a:endCxn id="111" idx="1"/>
            </p:cNvCxnSpPr>
            <p:nvPr/>
          </p:nvCxnSpPr>
          <p:spPr>
            <a:xfrm rot="5400000" flipH="1" flipV="1">
              <a:off x="3935649" y="3224088"/>
              <a:ext cx="360040" cy="553399"/>
            </a:xfrm>
            <a:prstGeom prst="bentConnector4">
              <a:avLst>
                <a:gd name="adj1" fmla="val -63493"/>
                <a:gd name="adj2" fmla="val 67493"/>
              </a:avLst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56322BE-1A29-4023-A69D-0CB6645CF2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8969" y="2419386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CustomShape 2">
              <a:extLst>
                <a:ext uri="{FF2B5EF4-FFF2-40B4-BE49-F238E27FC236}">
                  <a16:creationId xmlns:a16="http://schemas.microsoft.com/office/drawing/2014/main" id="{DAA1AFD0-C397-4FCE-8B5A-3571420260C3}"/>
                </a:ext>
              </a:extLst>
            </p:cNvPr>
            <p:cNvSpPr/>
            <p:nvPr/>
          </p:nvSpPr>
          <p:spPr>
            <a:xfrm>
              <a:off x="3534256" y="2059347"/>
              <a:ext cx="755239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rm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Off-gas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825E7B7-9DA1-4F6B-BB9D-841831BAD59F}"/>
                </a:ext>
              </a:extLst>
            </p:cNvPr>
            <p:cNvSpPr/>
            <p:nvPr/>
          </p:nvSpPr>
          <p:spPr>
            <a:xfrm>
              <a:off x="8049042" y="2959977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C1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65D292F-2638-4544-91F3-683DBE74302D}"/>
                </a:ext>
              </a:extLst>
            </p:cNvPr>
            <p:cNvCxnSpPr>
              <a:cxnSpLocks/>
            </p:cNvCxnSpPr>
            <p:nvPr/>
          </p:nvCxnSpPr>
          <p:spPr>
            <a:xfrm>
              <a:off x="8237858" y="3623149"/>
              <a:ext cx="0" cy="558246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CustomShape 2">
              <a:extLst>
                <a:ext uri="{FF2B5EF4-FFF2-40B4-BE49-F238E27FC236}">
                  <a16:creationId xmlns:a16="http://schemas.microsoft.com/office/drawing/2014/main" id="{3F9350B9-D977-4C12-8A10-7941B587E685}"/>
                </a:ext>
              </a:extLst>
            </p:cNvPr>
            <p:cNvSpPr/>
            <p:nvPr/>
          </p:nvSpPr>
          <p:spPr>
            <a:xfrm>
              <a:off x="7481774" y="4199887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Recovered 2-Ethyl anthraquinone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EC0C4DF-0174-4184-95D2-055535C7696D}"/>
                </a:ext>
              </a:extLst>
            </p:cNvPr>
            <p:cNvCxnSpPr>
              <a:cxnSpLocks/>
              <a:stCxn id="43" idx="3"/>
              <a:endCxn id="125" idx="1"/>
            </p:cNvCxnSpPr>
            <p:nvPr/>
          </p:nvCxnSpPr>
          <p:spPr>
            <a:xfrm flipV="1">
              <a:off x="8436260" y="3313493"/>
              <a:ext cx="792190" cy="6524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96D3878-1542-4D5A-B072-9A8414885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8368" y="2413613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94A80F2-A87A-413A-BE69-0B902D16A40E}"/>
                </a:ext>
              </a:extLst>
            </p:cNvPr>
            <p:cNvCxnSpPr>
              <a:cxnSpLocks/>
            </p:cNvCxnSpPr>
            <p:nvPr/>
          </p:nvCxnSpPr>
          <p:spPr>
            <a:xfrm>
              <a:off x="9408367" y="3667760"/>
              <a:ext cx="0" cy="558246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CustomShape 2">
              <a:extLst>
                <a:ext uri="{FF2B5EF4-FFF2-40B4-BE49-F238E27FC236}">
                  <a16:creationId xmlns:a16="http://schemas.microsoft.com/office/drawing/2014/main" id="{28613302-1FFA-4D08-93AB-0316FCD6AC63}"/>
                </a:ext>
              </a:extLst>
            </p:cNvPr>
            <p:cNvSpPr/>
            <p:nvPr/>
          </p:nvSpPr>
          <p:spPr>
            <a:xfrm>
              <a:off x="8665975" y="2111074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Water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CustomShape 2">
              <a:extLst>
                <a:ext uri="{FF2B5EF4-FFF2-40B4-BE49-F238E27FC236}">
                  <a16:creationId xmlns:a16="http://schemas.microsoft.com/office/drawing/2014/main" id="{401A6337-FEE5-4BC1-8797-E8029EA70530}"/>
                </a:ext>
              </a:extLst>
            </p:cNvPr>
            <p:cNvSpPr/>
            <p:nvPr/>
          </p:nvSpPr>
          <p:spPr>
            <a:xfrm>
              <a:off x="8680331" y="4147200"/>
              <a:ext cx="151216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1200" dirty="0">
                  <a:latin typeface="Fira Sans" panose="020B0604020202020204" charset="0"/>
                </a:rPr>
                <a:t>H</a:t>
              </a:r>
              <a:r>
                <a:rPr lang="en-GB" sz="1200" baseline="-25000" dirty="0">
                  <a:latin typeface="Fira Sans" panose="020B0604020202020204" charset="0"/>
                </a:rPr>
                <a:t>2</a:t>
              </a:r>
              <a:r>
                <a:rPr lang="en-GB" sz="1200" dirty="0">
                  <a:latin typeface="Fira Sans" panose="020B0604020202020204" charset="0"/>
                </a:rPr>
                <a:t>O</a:t>
              </a:r>
              <a:r>
                <a:rPr lang="en-GB" sz="1200" baseline="-25000" dirty="0">
                  <a:latin typeface="Fira Sans" panose="020B0604020202020204" charset="0"/>
                </a:rPr>
                <a:t>2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408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5D8FAB8A-67CF-431D-8537-546C395E042A}"/>
              </a:ext>
            </a:extLst>
          </p:cNvPr>
          <p:cNvSpPr txBox="1"/>
          <p:nvPr/>
        </p:nvSpPr>
        <p:spPr>
          <a:xfrm>
            <a:off x="1591426" y="4546910"/>
            <a:ext cx="2773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  <a:latin typeface="Fira Sans" panose="020B0503050000020004" pitchFamily="34" charset="0"/>
              </a:rPr>
              <a:t>C1 and C2 – distillation columns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A31FA7-2E85-4E92-BAE5-FA1EF248708E}"/>
              </a:ext>
            </a:extLst>
          </p:cNvPr>
          <p:cNvGrpSpPr/>
          <p:nvPr/>
        </p:nvGrpSpPr>
        <p:grpSpPr>
          <a:xfrm>
            <a:off x="659392" y="1484351"/>
            <a:ext cx="4637584" cy="3521035"/>
            <a:chOff x="659392" y="1484351"/>
            <a:chExt cx="4637584" cy="3521035"/>
          </a:xfrm>
        </p:grpSpPr>
        <p:sp>
          <p:nvSpPr>
            <p:cNvPr id="21" name="CustomShape 2">
              <a:extLst>
                <a:ext uri="{FF2B5EF4-FFF2-40B4-BE49-F238E27FC236}">
                  <a16:creationId xmlns:a16="http://schemas.microsoft.com/office/drawing/2014/main" id="{E2FB009B-EDF2-4266-B96D-91C77784B943}"/>
                </a:ext>
              </a:extLst>
            </p:cNvPr>
            <p:cNvSpPr/>
            <p:nvPr/>
          </p:nvSpPr>
          <p:spPr>
            <a:xfrm>
              <a:off x="659392" y="3100846"/>
              <a:ext cx="92214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Benzene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BC98793-B5DC-4495-BCAF-F8E2AF2CD4A7}"/>
                </a:ext>
              </a:extLst>
            </p:cNvPr>
            <p:cNvCxnSpPr>
              <a:cxnSpLocks/>
            </p:cNvCxnSpPr>
            <p:nvPr/>
          </p:nvCxnSpPr>
          <p:spPr>
            <a:xfrm>
              <a:off x="1446809" y="3319266"/>
              <a:ext cx="360041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62AB068-D7D6-4B31-B751-CD294AB62352}"/>
                </a:ext>
              </a:extLst>
            </p:cNvPr>
            <p:cNvSpPr/>
            <p:nvPr/>
          </p:nvSpPr>
          <p:spPr>
            <a:xfrm>
              <a:off x="1806850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Direct benzene oxidation</a:t>
              </a:r>
            </a:p>
          </p:txBody>
        </p:sp>
        <p:sp>
          <p:nvSpPr>
            <p:cNvPr id="47" name="CustomShape 2">
              <a:extLst>
                <a:ext uri="{FF2B5EF4-FFF2-40B4-BE49-F238E27FC236}">
                  <a16:creationId xmlns:a16="http://schemas.microsoft.com/office/drawing/2014/main" id="{31466969-43FF-47A0-9952-34203EE55E59}"/>
                </a:ext>
              </a:extLst>
            </p:cNvPr>
            <p:cNvSpPr/>
            <p:nvPr/>
          </p:nvSpPr>
          <p:spPr>
            <a:xfrm>
              <a:off x="1865240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350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1 bar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3F3F5C7-8036-4B9A-913A-011EC9A042AE}"/>
                </a:ext>
              </a:extLst>
            </p:cNvPr>
            <p:cNvCxnSpPr>
              <a:cxnSpLocks/>
              <a:stCxn id="39" idx="3"/>
              <a:endCxn id="66" idx="1"/>
            </p:cNvCxnSpPr>
            <p:nvPr/>
          </p:nvCxnSpPr>
          <p:spPr>
            <a:xfrm>
              <a:off x="3319018" y="3320768"/>
              <a:ext cx="326343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F2AE57A-3D3D-4BBF-A4B8-E3702F4A3510}"/>
                </a:ext>
              </a:extLst>
            </p:cNvPr>
            <p:cNvSpPr/>
            <p:nvPr/>
          </p:nvSpPr>
          <p:spPr>
            <a:xfrm>
              <a:off x="3645361" y="2960728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C1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FE21AD-E671-4409-9673-9C0A709E5596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2562934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stomShape 2">
              <a:extLst>
                <a:ext uri="{FF2B5EF4-FFF2-40B4-BE49-F238E27FC236}">
                  <a16:creationId xmlns:a16="http://schemas.microsoft.com/office/drawing/2014/main" id="{74A1EC9B-3517-45B5-AC31-4175C57BE63C}"/>
                </a:ext>
              </a:extLst>
            </p:cNvPr>
            <p:cNvSpPr/>
            <p:nvPr/>
          </p:nvSpPr>
          <p:spPr>
            <a:xfrm>
              <a:off x="1829236" y="1484351"/>
              <a:ext cx="1512167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N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(fossil or green)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418642FE-6691-47F6-BFF1-A919644BF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8969" y="2420888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CustomShape 2">
              <a:extLst>
                <a:ext uri="{FF2B5EF4-FFF2-40B4-BE49-F238E27FC236}">
                  <a16:creationId xmlns:a16="http://schemas.microsoft.com/office/drawing/2014/main" id="{2D8862CB-0201-45E8-B571-AAF83FADD597}"/>
                </a:ext>
              </a:extLst>
            </p:cNvPr>
            <p:cNvSpPr/>
            <p:nvPr/>
          </p:nvSpPr>
          <p:spPr>
            <a:xfrm>
              <a:off x="3375699" y="1854935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Nitrogen</a:t>
              </a: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B61EFB-8D2F-4F53-A7B2-1A09161E9ED7}"/>
                </a:ext>
              </a:extLst>
            </p:cNvPr>
            <p:cNvSpPr/>
            <p:nvPr/>
          </p:nvSpPr>
          <p:spPr>
            <a:xfrm>
              <a:off x="4534177" y="2960728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C2</a:t>
              </a:r>
            </a:p>
          </p:txBody>
        </p:sp>
        <p:cxnSp>
          <p:nvCxnSpPr>
            <p:cNvPr id="4" name="Connector: Elbow 3">
              <a:extLst>
                <a:ext uri="{FF2B5EF4-FFF2-40B4-BE49-F238E27FC236}">
                  <a16:creationId xmlns:a16="http://schemas.microsoft.com/office/drawing/2014/main" id="{EFAAE9E7-8D43-47FC-8131-C99D35F1FB4B}"/>
                </a:ext>
              </a:extLst>
            </p:cNvPr>
            <p:cNvCxnSpPr>
              <a:stCxn id="66" idx="2"/>
              <a:endCxn id="17" idx="1"/>
            </p:cNvCxnSpPr>
            <p:nvPr/>
          </p:nvCxnSpPr>
          <p:spPr>
            <a:xfrm rot="5400000" flipH="1" flipV="1">
              <a:off x="4006553" y="3153184"/>
              <a:ext cx="360040" cy="695207"/>
            </a:xfrm>
            <a:prstGeom prst="bentConnector4">
              <a:avLst>
                <a:gd name="adj1" fmla="val -63493"/>
                <a:gd name="adj2" fmla="val 63925"/>
              </a:avLst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F359CF5-9CC9-4911-AAB7-6D7624F19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7641" y="2420888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978D96C-F388-4CCB-A03F-F4C8E24ECF77}"/>
                </a:ext>
              </a:extLst>
            </p:cNvPr>
            <p:cNvCxnSpPr>
              <a:cxnSpLocks/>
            </p:cNvCxnSpPr>
            <p:nvPr/>
          </p:nvCxnSpPr>
          <p:spPr>
            <a:xfrm>
              <a:off x="4727848" y="3680808"/>
              <a:ext cx="0" cy="558246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ustomShape 2">
              <a:extLst>
                <a:ext uri="{FF2B5EF4-FFF2-40B4-BE49-F238E27FC236}">
                  <a16:creationId xmlns:a16="http://schemas.microsoft.com/office/drawing/2014/main" id="{88428EA2-779B-4375-8C3E-4732BE6EF273}"/>
                </a:ext>
              </a:extLst>
            </p:cNvPr>
            <p:cNvSpPr/>
            <p:nvPr/>
          </p:nvSpPr>
          <p:spPr>
            <a:xfrm>
              <a:off x="4268153" y="1804878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Benzene to recycle</a:t>
              </a: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CustomShape 2">
              <a:extLst>
                <a:ext uri="{FF2B5EF4-FFF2-40B4-BE49-F238E27FC236}">
                  <a16:creationId xmlns:a16="http://schemas.microsoft.com/office/drawing/2014/main" id="{79BFA0F7-E7F5-48F6-805D-FD40AFA14366}"/>
                </a:ext>
              </a:extLst>
            </p:cNvPr>
            <p:cNvSpPr/>
            <p:nvPr/>
          </p:nvSpPr>
          <p:spPr>
            <a:xfrm>
              <a:off x="4213229" y="3946471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Phenol</a:t>
              </a: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16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5D8FAB8A-67CF-431D-8537-546C395E042A}"/>
              </a:ext>
            </a:extLst>
          </p:cNvPr>
          <p:cNvSpPr txBox="1"/>
          <p:nvPr/>
        </p:nvSpPr>
        <p:spPr>
          <a:xfrm>
            <a:off x="1591426" y="4546910"/>
            <a:ext cx="27735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  <a:latin typeface="Fira Sans" panose="020B0503050000020004" pitchFamily="34" charset="0"/>
              </a:rPr>
              <a:t>C1 and C2 – distillation columns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A31FA7-2E85-4E92-BAE5-FA1EF248708E}"/>
              </a:ext>
            </a:extLst>
          </p:cNvPr>
          <p:cNvGrpSpPr/>
          <p:nvPr/>
        </p:nvGrpSpPr>
        <p:grpSpPr>
          <a:xfrm>
            <a:off x="659392" y="1484351"/>
            <a:ext cx="4591111" cy="3521035"/>
            <a:chOff x="659392" y="1484351"/>
            <a:chExt cx="4591111" cy="3521035"/>
          </a:xfrm>
        </p:grpSpPr>
        <p:sp>
          <p:nvSpPr>
            <p:cNvPr id="21" name="CustomShape 2">
              <a:extLst>
                <a:ext uri="{FF2B5EF4-FFF2-40B4-BE49-F238E27FC236}">
                  <a16:creationId xmlns:a16="http://schemas.microsoft.com/office/drawing/2014/main" id="{E2FB009B-EDF2-4266-B96D-91C77784B943}"/>
                </a:ext>
              </a:extLst>
            </p:cNvPr>
            <p:cNvSpPr/>
            <p:nvPr/>
          </p:nvSpPr>
          <p:spPr>
            <a:xfrm>
              <a:off x="659392" y="3100846"/>
              <a:ext cx="922148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Benzene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BC98793-B5DC-4495-BCAF-F8E2AF2CD4A7}"/>
                </a:ext>
              </a:extLst>
            </p:cNvPr>
            <p:cNvCxnSpPr>
              <a:cxnSpLocks/>
            </p:cNvCxnSpPr>
            <p:nvPr/>
          </p:nvCxnSpPr>
          <p:spPr>
            <a:xfrm>
              <a:off x="1446809" y="3319266"/>
              <a:ext cx="360041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62AB068-D7D6-4B31-B751-CD294AB62352}"/>
                </a:ext>
              </a:extLst>
            </p:cNvPr>
            <p:cNvSpPr/>
            <p:nvPr/>
          </p:nvSpPr>
          <p:spPr>
            <a:xfrm>
              <a:off x="1806850" y="2960728"/>
              <a:ext cx="151216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Direct benzene oxidation</a:t>
              </a:r>
            </a:p>
          </p:txBody>
        </p:sp>
        <p:sp>
          <p:nvSpPr>
            <p:cNvPr id="47" name="CustomShape 2">
              <a:extLst>
                <a:ext uri="{FF2B5EF4-FFF2-40B4-BE49-F238E27FC236}">
                  <a16:creationId xmlns:a16="http://schemas.microsoft.com/office/drawing/2014/main" id="{31466969-43FF-47A0-9952-34203EE55E59}"/>
                </a:ext>
              </a:extLst>
            </p:cNvPr>
            <p:cNvSpPr/>
            <p:nvPr/>
          </p:nvSpPr>
          <p:spPr>
            <a:xfrm>
              <a:off x="1865240" y="3673533"/>
              <a:ext cx="1440161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60 </a:t>
              </a:r>
              <a:r>
                <a:rPr lang="en-US" sz="1200" dirty="0">
                  <a:solidFill>
                    <a:schemeClr val="tx1"/>
                  </a:solidFill>
                  <a:latin typeface="Fira Sans" panose="020B0604020202020204" charset="0"/>
                </a:rPr>
                <a:t>°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C, 1 bar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3F3F5C7-8036-4B9A-913A-011EC9A042AE}"/>
                </a:ext>
              </a:extLst>
            </p:cNvPr>
            <p:cNvCxnSpPr>
              <a:cxnSpLocks/>
              <a:stCxn id="39" idx="3"/>
              <a:endCxn id="66" idx="1"/>
            </p:cNvCxnSpPr>
            <p:nvPr/>
          </p:nvCxnSpPr>
          <p:spPr>
            <a:xfrm>
              <a:off x="3319018" y="3320768"/>
              <a:ext cx="326343" cy="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F2AE57A-3D3D-4BBF-A4B8-E3702F4A3510}"/>
                </a:ext>
              </a:extLst>
            </p:cNvPr>
            <p:cNvSpPr/>
            <p:nvPr/>
          </p:nvSpPr>
          <p:spPr>
            <a:xfrm>
              <a:off x="3645361" y="2960728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C1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FE21AD-E671-4409-9673-9C0A709E5596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2562934" y="1901813"/>
              <a:ext cx="0" cy="1058915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ustomShape 2">
              <a:extLst>
                <a:ext uri="{FF2B5EF4-FFF2-40B4-BE49-F238E27FC236}">
                  <a16:creationId xmlns:a16="http://schemas.microsoft.com/office/drawing/2014/main" id="{74A1EC9B-3517-45B5-AC31-4175C57BE63C}"/>
                </a:ext>
              </a:extLst>
            </p:cNvPr>
            <p:cNvSpPr/>
            <p:nvPr/>
          </p:nvSpPr>
          <p:spPr>
            <a:xfrm>
              <a:off x="1829236" y="1484351"/>
              <a:ext cx="1512167" cy="43788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H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(fossil or green)</a:t>
              </a: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418642FE-6691-47F6-BFF1-A919644BF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8969" y="2420888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CustomShape 2">
              <a:extLst>
                <a:ext uri="{FF2B5EF4-FFF2-40B4-BE49-F238E27FC236}">
                  <a16:creationId xmlns:a16="http://schemas.microsoft.com/office/drawing/2014/main" id="{2D8862CB-0201-45E8-B571-AAF83FADD597}"/>
                </a:ext>
              </a:extLst>
            </p:cNvPr>
            <p:cNvSpPr/>
            <p:nvPr/>
          </p:nvSpPr>
          <p:spPr>
            <a:xfrm>
              <a:off x="3085228" y="1673686"/>
              <a:ext cx="1545681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H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O</a:t>
              </a:r>
              <a:r>
                <a:rPr lang="en-US" sz="1200" spc="-1" baseline="-25000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2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Benzene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Water</a:t>
              </a: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B61EFB-8D2F-4F53-A7B2-1A09161E9ED7}"/>
                </a:ext>
              </a:extLst>
            </p:cNvPr>
            <p:cNvSpPr/>
            <p:nvPr/>
          </p:nvSpPr>
          <p:spPr>
            <a:xfrm>
              <a:off x="4534177" y="2960728"/>
              <a:ext cx="387218" cy="720080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latin typeface="Fira Sans" panose="020B0604020202020204" charset="0"/>
                </a:rPr>
                <a:t>C2</a:t>
              </a:r>
            </a:p>
          </p:txBody>
        </p:sp>
        <p:cxnSp>
          <p:nvCxnSpPr>
            <p:cNvPr id="4" name="Connector: Elbow 3">
              <a:extLst>
                <a:ext uri="{FF2B5EF4-FFF2-40B4-BE49-F238E27FC236}">
                  <a16:creationId xmlns:a16="http://schemas.microsoft.com/office/drawing/2014/main" id="{EFAAE9E7-8D43-47FC-8131-C99D35F1FB4B}"/>
                </a:ext>
              </a:extLst>
            </p:cNvPr>
            <p:cNvCxnSpPr>
              <a:stCxn id="66" idx="2"/>
              <a:endCxn id="17" idx="1"/>
            </p:cNvCxnSpPr>
            <p:nvPr/>
          </p:nvCxnSpPr>
          <p:spPr>
            <a:xfrm rot="5400000" flipH="1" flipV="1">
              <a:off x="4006553" y="3153184"/>
              <a:ext cx="360040" cy="695207"/>
            </a:xfrm>
            <a:prstGeom prst="bentConnector4">
              <a:avLst>
                <a:gd name="adj1" fmla="val -63493"/>
                <a:gd name="adj2" fmla="val 63925"/>
              </a:avLst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F359CF5-9CC9-4911-AAB7-6D7624F19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7641" y="2420888"/>
              <a:ext cx="0" cy="539840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978D96C-F388-4CCB-A03F-F4C8E24ECF77}"/>
                </a:ext>
              </a:extLst>
            </p:cNvPr>
            <p:cNvCxnSpPr>
              <a:cxnSpLocks/>
            </p:cNvCxnSpPr>
            <p:nvPr/>
          </p:nvCxnSpPr>
          <p:spPr>
            <a:xfrm>
              <a:off x="4727848" y="3680808"/>
              <a:ext cx="0" cy="558246"/>
            </a:xfrm>
            <a:prstGeom prst="straightConnector1">
              <a:avLst/>
            </a:prstGeom>
            <a:ln>
              <a:solidFill>
                <a:schemeClr val="tx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CustomShape 2">
              <a:extLst>
                <a:ext uri="{FF2B5EF4-FFF2-40B4-BE49-F238E27FC236}">
                  <a16:creationId xmlns:a16="http://schemas.microsoft.com/office/drawing/2014/main" id="{88428EA2-779B-4375-8C3E-4732BE6EF273}"/>
                </a:ext>
              </a:extLst>
            </p:cNvPr>
            <p:cNvSpPr/>
            <p:nvPr/>
          </p:nvSpPr>
          <p:spPr>
            <a:xfrm>
              <a:off x="4221680" y="1852614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Quinone</a:t>
              </a: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CustomShape 2">
              <a:extLst>
                <a:ext uri="{FF2B5EF4-FFF2-40B4-BE49-F238E27FC236}">
                  <a16:creationId xmlns:a16="http://schemas.microsoft.com/office/drawing/2014/main" id="{79BFA0F7-E7F5-48F6-805D-FD40AFA14366}"/>
                </a:ext>
              </a:extLst>
            </p:cNvPr>
            <p:cNvSpPr/>
            <p:nvPr/>
          </p:nvSpPr>
          <p:spPr>
            <a:xfrm>
              <a:off x="4213229" y="3946471"/>
              <a:ext cx="1028823" cy="105891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 spc="-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  <a:sym typeface="Wingdings" pitchFamily="2" charset="2"/>
                </a:rPr>
                <a:t>Phenol</a:t>
              </a:r>
            </a:p>
            <a:p>
              <a:pPr algn="ctr">
                <a:lnSpc>
                  <a:spcPct val="90000"/>
                </a:lnSpc>
              </a:pPr>
              <a:endParaRPr lang="en-US" sz="1200" spc="-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1572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8415E"/>
      </a:accent1>
      <a:accent2>
        <a:srgbClr val="FAB35E"/>
      </a:accent2>
      <a:accent3>
        <a:srgbClr val="1DAACC"/>
      </a:accent3>
      <a:accent4>
        <a:srgbClr val="EC8345"/>
      </a:accent4>
      <a:accent5>
        <a:srgbClr val="A6287F"/>
      </a:accent5>
      <a:accent6>
        <a:srgbClr val="6D41BD"/>
      </a:accent6>
      <a:hlink>
        <a:srgbClr val="1D63CC"/>
      </a:hlink>
      <a:folHlink>
        <a:srgbClr val="19C8B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209</Words>
  <Application>Microsoft Office PowerPoint</Application>
  <DocSecurity>0</DocSecurity>
  <PresentationFormat>Widescreen</PresentationFormat>
  <Paragraphs>80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Fira Sans</vt:lpstr>
      <vt:lpstr>Wingdings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Marie Francine Lagadec</dc:creator>
  <cp:keywords/>
  <dc:description/>
  <cp:lastModifiedBy>Nabera  Abhinandan</cp:lastModifiedBy>
  <cp:revision>1591</cp:revision>
  <cp:lastPrinted>2023-12-14T11:24:36Z</cp:lastPrinted>
  <dcterms:created xsi:type="dcterms:W3CDTF">2020-10-28T13:25:21Z</dcterms:created>
  <dcterms:modified xsi:type="dcterms:W3CDTF">2025-06-20T14:03:35Z</dcterms:modified>
  <cp:category/>
  <dc:identifier/>
  <cp:contentStatus/>
  <dc:language/>
  <cp:version/>
</cp:coreProperties>
</file>