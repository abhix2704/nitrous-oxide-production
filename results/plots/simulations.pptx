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48" r:id="rId1"/>
  </p:sldMasterIdLst>
  <p:notesMasterIdLst>
    <p:notesMasterId r:id="rId7"/>
  </p:notesMasterIdLst>
  <p:sldIdLst>
    <p:sldId id="2438" r:id="rId2"/>
    <p:sldId id="2439" r:id="rId3"/>
    <p:sldId id="2440" r:id="rId4"/>
    <p:sldId id="2441" r:id="rId5"/>
    <p:sldId id="2442" r:id="rId6"/>
  </p:sldIdLst>
  <p:sldSz cx="12192000" cy="6858000"/>
  <p:notesSz cx="10234613" cy="7099300"/>
  <p:embeddedFontLst>
    <p:embeddedFont>
      <p:font typeface="Calibri" panose="020F0502020204030204" pitchFamily="34" charset="0"/>
      <p:regular r:id="rId8"/>
      <p:bold r:id="rId9"/>
      <p:italic r:id="rId10"/>
      <p:boldItalic r:id="rId11"/>
    </p:embeddedFont>
    <p:embeddedFont>
      <p:font typeface="Fira Sans" panose="020B0503050000020004" pitchFamily="34" charset="0"/>
      <p:regular r:id="rId12"/>
      <p:bold r:id="rId13"/>
      <p:italic r:id="rId14"/>
      <p:boldItalic r:id="rId15"/>
    </p:embeddedFont>
    <p:embeddedFont>
      <p:font typeface="Roboto" panose="020000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5050"/>
    <a:srgbClr val="B71205"/>
    <a:srgbClr val="C8415E"/>
    <a:srgbClr val="3B3838"/>
    <a:srgbClr val="167F99"/>
    <a:srgbClr val="1DABCD"/>
    <a:srgbClr val="8763C9"/>
    <a:srgbClr val="FA5649"/>
    <a:srgbClr val="808080"/>
    <a:srgbClr val="C75C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638" autoAdjust="0"/>
    <p:restoredTop sz="88803"/>
  </p:normalViewPr>
  <p:slideViewPr>
    <p:cSldViewPr>
      <p:cViewPr varScale="1">
        <p:scale>
          <a:sx n="94" d="100"/>
          <a:sy n="94" d="100"/>
        </p:scale>
        <p:origin x="102" y="49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23" Type="http://schemas.openxmlformats.org/officeDocument/2006/relationships/tableStyles" Target="tableStyles.xml"/><Relationship Id="rId10" Type="http://schemas.openxmlformats.org/officeDocument/2006/relationships/font" Target="fonts/font3.fntdata"/><Relationship Id="rId19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 bwMode="auto">
          <a:xfrm>
            <a:off x="0" y="0"/>
            <a:ext cx="2494687" cy="474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 bwMode="auto">
          <a:xfrm>
            <a:off x="3260951" y="0"/>
            <a:ext cx="2494687" cy="474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 bwMode="auto">
          <a:xfrm>
            <a:off x="39688" y="1182688"/>
            <a:ext cx="5678487" cy="31956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 bwMode="auto">
          <a:xfrm>
            <a:off x="575697" y="4555384"/>
            <a:ext cx="4605576" cy="372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 bwMode="auto">
          <a:xfrm>
            <a:off x="0" y="8990804"/>
            <a:ext cx="2494687" cy="474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 bwMode="auto">
          <a:xfrm>
            <a:off x="3260951" y="8990804"/>
            <a:ext cx="2494687" cy="474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CH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CH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1</a:t>
            </a:fld>
            <a:endParaRPr lang="fr-CH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841978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CH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2</a:t>
            </a:fld>
            <a:endParaRPr lang="fr-CH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657422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CH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3</a:t>
            </a:fld>
            <a:endParaRPr lang="fr-CH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633789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CH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4</a:t>
            </a:fld>
            <a:endParaRPr lang="fr-CH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90428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CH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5</a:t>
            </a:fld>
            <a:endParaRPr lang="fr-CH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13849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Fira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Fira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Fira Sans"/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>
              <a:defRPr/>
            </a:pPr>
            <a:fld id="{00000000-1234-1234-1234-123412341234}" type="slidenum">
              <a:rPr lang="fr-CH"/>
              <a:t>‹#›</a:t>
            </a:fld>
            <a:endParaRPr lang="fr-CH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and Vertical Text" type="vertTx" userDrawn="1">
  <p:cSld name="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Fir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 bwMode="auto"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Fira Sans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Fira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Fira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Fira Sans"/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>
              <a:defRPr/>
            </a:pPr>
            <a:fld id="{00000000-1234-1234-1234-123412341234}" type="slidenum">
              <a:rPr lang="fr-CH"/>
              <a:t>‹#›</a:t>
            </a:fld>
            <a:endParaRPr lang="fr-CH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Vertical Title and Text" type="vertTitleAndTx" userDrawn="1">
  <p:cSld name="VERTICAL_TITLE_AND_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 bwMode="auto"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Fir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 bwMode="auto"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Fira Sans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Fira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Fira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Fira Sans"/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>
              <a:defRPr/>
            </a:pPr>
            <a:fld id="{00000000-1234-1234-1234-123412341234}" type="slidenum">
              <a:rPr lang="fr-CH"/>
              <a:t>‹#›</a:t>
            </a:fld>
            <a:endParaRPr lang="fr-CH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pPr>
              <a:defRPr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Fira Sans"/>
                <a:ea typeface="Fira Sans"/>
                <a:cs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Fira Sans"/>
                <a:ea typeface="Fira Sans"/>
                <a:cs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Fira Sans"/>
                <a:ea typeface="Fira Sans"/>
                <a:cs typeface="Calibri"/>
              </a:defRPr>
            </a:lvl1pPr>
            <a:lvl2pPr marL="0" marR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fld id="{00000000-1234-1234-1234-123412341234}" type="slidenum">
              <a:rPr lang="fr-CH"/>
              <a:t>‹#›</a:t>
            </a:fld>
            <a:endParaRPr lang="fr-CH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  <p:sldLayoutId id="2147483656" r:id="rId2"/>
    <p:sldLayoutId id="2147483657" r:id="rId3"/>
  </p:sldLayoutIdLst>
  <p:hf hdr="0" ftr="0" dt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Fira Sans"/>
          <a:ea typeface="Fira Sans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Fira Sans"/>
          <a:ea typeface="Fira Sans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Box 112">
            <a:extLst>
              <a:ext uri="{FF2B5EF4-FFF2-40B4-BE49-F238E27FC236}">
                <a16:creationId xmlns:a16="http://schemas.microsoft.com/office/drawing/2014/main" id="{5D8FAB8A-67CF-431D-8537-546C395E042A}"/>
              </a:ext>
            </a:extLst>
          </p:cNvPr>
          <p:cNvSpPr txBox="1"/>
          <p:nvPr/>
        </p:nvSpPr>
        <p:spPr>
          <a:xfrm>
            <a:off x="364302" y="4692096"/>
            <a:ext cx="2492990" cy="523220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Unit processes</a:t>
            </a:r>
          </a:p>
          <a:p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S1 and S2 – flash separators</a:t>
            </a:r>
          </a:p>
        </p:txBody>
      </p:sp>
      <p:sp>
        <p:nvSpPr>
          <p:cNvPr id="134" name="CustomShape 2">
            <a:extLst>
              <a:ext uri="{FF2B5EF4-FFF2-40B4-BE49-F238E27FC236}">
                <a16:creationId xmlns:a16="http://schemas.microsoft.com/office/drawing/2014/main" id="{EF998E2B-9C4A-4B16-8E67-A622499178D3}"/>
              </a:ext>
            </a:extLst>
          </p:cNvPr>
          <p:cNvSpPr/>
          <p:nvPr/>
        </p:nvSpPr>
        <p:spPr>
          <a:xfrm>
            <a:off x="11134175" y="3894791"/>
            <a:ext cx="1124471" cy="105891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Wastewater</a:t>
            </a:r>
            <a:endParaRPr lang="en-US" spc="-1" baseline="-25000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  <a:sym typeface="Wingdings" pitchFamily="2" charset="2"/>
            </a:endParaRPr>
          </a:p>
          <a:p>
            <a:pPr algn="ctr">
              <a:lnSpc>
                <a:spcPct val="90000"/>
              </a:lnSpc>
            </a:pPr>
            <a:endParaRPr lang="en-US" spc="-1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1" name="CustomShape 2">
            <a:extLst>
              <a:ext uri="{FF2B5EF4-FFF2-40B4-BE49-F238E27FC236}">
                <a16:creationId xmlns:a16="http://schemas.microsoft.com/office/drawing/2014/main" id="{E2FB009B-EDF2-4266-B96D-91C77784B943}"/>
              </a:ext>
            </a:extLst>
          </p:cNvPr>
          <p:cNvSpPr/>
          <p:nvPr/>
        </p:nvSpPr>
        <p:spPr>
          <a:xfrm>
            <a:off x="364302" y="3070264"/>
            <a:ext cx="1512168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Fossil NH</a:t>
            </a:r>
            <a:r>
              <a:rPr lang="en-US" spc="-1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3</a:t>
            </a: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 or green NH</a:t>
            </a:r>
            <a:r>
              <a:rPr lang="en-US" spc="-1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3</a:t>
            </a:r>
            <a:endParaRPr lang="en-US" spc="-1" baseline="-25000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BC98793-B5DC-4495-BCAF-F8E2AF2CD4A7}"/>
              </a:ext>
            </a:extLst>
          </p:cNvPr>
          <p:cNvCxnSpPr>
            <a:cxnSpLocks/>
          </p:cNvCxnSpPr>
          <p:nvPr/>
        </p:nvCxnSpPr>
        <p:spPr>
          <a:xfrm>
            <a:off x="1446809" y="3319266"/>
            <a:ext cx="329184" cy="0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62AB068-D7D6-4B31-B751-CD294AB62352}"/>
              </a:ext>
            </a:extLst>
          </p:cNvPr>
          <p:cNvSpPr/>
          <p:nvPr/>
        </p:nvSpPr>
        <p:spPr>
          <a:xfrm>
            <a:off x="1806850" y="2960728"/>
            <a:ext cx="1512168" cy="72008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NO production</a:t>
            </a:r>
          </a:p>
        </p:txBody>
      </p:sp>
      <p:sp>
        <p:nvSpPr>
          <p:cNvPr id="47" name="CustomShape 2">
            <a:extLst>
              <a:ext uri="{FF2B5EF4-FFF2-40B4-BE49-F238E27FC236}">
                <a16:creationId xmlns:a16="http://schemas.microsoft.com/office/drawing/2014/main" id="{31466969-43FF-47A0-9952-34203EE55E59}"/>
              </a:ext>
            </a:extLst>
          </p:cNvPr>
          <p:cNvSpPr/>
          <p:nvPr/>
        </p:nvSpPr>
        <p:spPr>
          <a:xfrm>
            <a:off x="1865240" y="3673533"/>
            <a:ext cx="1440161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770 </a:t>
            </a:r>
            <a:r>
              <a:rPr lang="en-US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°</a:t>
            </a: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C, 1 bar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3F3F5C7-8036-4B9A-913A-011EC9A042AE}"/>
              </a:ext>
            </a:extLst>
          </p:cNvPr>
          <p:cNvCxnSpPr>
            <a:cxnSpLocks/>
            <a:stCxn id="39" idx="3"/>
            <a:endCxn id="66" idx="1"/>
          </p:cNvCxnSpPr>
          <p:nvPr/>
        </p:nvCxnSpPr>
        <p:spPr>
          <a:xfrm>
            <a:off x="3319018" y="3320768"/>
            <a:ext cx="326342" cy="0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2F2AE57A-3D3D-4BBF-A4B8-E3702F4A3510}"/>
              </a:ext>
            </a:extLst>
          </p:cNvPr>
          <p:cNvSpPr/>
          <p:nvPr/>
        </p:nvSpPr>
        <p:spPr>
          <a:xfrm>
            <a:off x="3645360" y="2960728"/>
            <a:ext cx="447431" cy="72008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S1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5D1DB71-DB47-48D0-80EC-8A24C194144E}"/>
              </a:ext>
            </a:extLst>
          </p:cNvPr>
          <p:cNvCxnSpPr>
            <a:cxnSpLocks/>
            <a:stCxn id="66" idx="3"/>
            <a:endCxn id="111" idx="1"/>
          </p:cNvCxnSpPr>
          <p:nvPr/>
        </p:nvCxnSpPr>
        <p:spPr>
          <a:xfrm>
            <a:off x="4092791" y="3320768"/>
            <a:ext cx="299578" cy="0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D3B748F-83E3-4C64-B75E-D30E9065B4FB}"/>
              </a:ext>
            </a:extLst>
          </p:cNvPr>
          <p:cNvCxnSpPr>
            <a:cxnSpLocks/>
            <a:stCxn id="66" idx="2"/>
          </p:cNvCxnSpPr>
          <p:nvPr/>
        </p:nvCxnSpPr>
        <p:spPr>
          <a:xfrm flipH="1">
            <a:off x="3868112" y="3680808"/>
            <a:ext cx="964" cy="539496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CustomShape 2">
            <a:extLst>
              <a:ext uri="{FF2B5EF4-FFF2-40B4-BE49-F238E27FC236}">
                <a16:creationId xmlns:a16="http://schemas.microsoft.com/office/drawing/2014/main" id="{449032A1-9EA2-4D89-BB19-507D1BD7217D}"/>
              </a:ext>
            </a:extLst>
          </p:cNvPr>
          <p:cNvSpPr/>
          <p:nvPr/>
        </p:nvSpPr>
        <p:spPr>
          <a:xfrm>
            <a:off x="3319018" y="4126426"/>
            <a:ext cx="1128757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Wastewater</a:t>
            </a:r>
            <a:endParaRPr lang="en-US" spc="-1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3FE21AD-E671-4409-9673-9C0A709E5596}"/>
              </a:ext>
            </a:extLst>
          </p:cNvPr>
          <p:cNvCxnSpPr>
            <a:cxnSpLocks/>
          </p:cNvCxnSpPr>
          <p:nvPr/>
        </p:nvCxnSpPr>
        <p:spPr>
          <a:xfrm>
            <a:off x="2562934" y="2431614"/>
            <a:ext cx="0" cy="539496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ustomShape 2">
            <a:extLst>
              <a:ext uri="{FF2B5EF4-FFF2-40B4-BE49-F238E27FC236}">
                <a16:creationId xmlns:a16="http://schemas.microsoft.com/office/drawing/2014/main" id="{74A1EC9B-3517-45B5-AC31-4175C57BE63C}"/>
              </a:ext>
            </a:extLst>
          </p:cNvPr>
          <p:cNvSpPr/>
          <p:nvPr/>
        </p:nvSpPr>
        <p:spPr>
          <a:xfrm>
            <a:off x="2351584" y="2077222"/>
            <a:ext cx="783806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O</a:t>
            </a:r>
            <a:r>
              <a:rPr lang="en-US" spc="-1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2</a:t>
            </a:r>
            <a:endParaRPr lang="en-US" spc="-1" baseline="-25000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4BF26761-D956-47A9-A346-64D4319AF37A}"/>
              </a:ext>
            </a:extLst>
          </p:cNvPr>
          <p:cNvSpPr/>
          <p:nvPr/>
        </p:nvSpPr>
        <p:spPr>
          <a:xfrm>
            <a:off x="6204114" y="2959226"/>
            <a:ext cx="1512168" cy="72008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HNO</a:t>
            </a:r>
            <a:r>
              <a:rPr lang="en-GB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3</a:t>
            </a:r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 production</a:t>
            </a:r>
          </a:p>
        </p:txBody>
      </p:sp>
      <p:sp>
        <p:nvSpPr>
          <p:cNvPr id="82" name="CustomShape 2">
            <a:extLst>
              <a:ext uri="{FF2B5EF4-FFF2-40B4-BE49-F238E27FC236}">
                <a16:creationId xmlns:a16="http://schemas.microsoft.com/office/drawing/2014/main" id="{5267D28E-A1D3-4ED8-BEC6-8BE3450DC7C9}"/>
              </a:ext>
            </a:extLst>
          </p:cNvPr>
          <p:cNvSpPr/>
          <p:nvPr/>
        </p:nvSpPr>
        <p:spPr>
          <a:xfrm>
            <a:off x="6240116" y="3673533"/>
            <a:ext cx="1440161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38 </a:t>
            </a:r>
            <a:r>
              <a:rPr lang="en-US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°</a:t>
            </a: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C, 8 bar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FB0CEA6-91BC-4507-8F8E-7EAFA44FE50B}"/>
              </a:ext>
            </a:extLst>
          </p:cNvPr>
          <p:cNvCxnSpPr>
            <a:cxnSpLocks/>
          </p:cNvCxnSpPr>
          <p:nvPr/>
        </p:nvCxnSpPr>
        <p:spPr>
          <a:xfrm>
            <a:off x="6960196" y="2414390"/>
            <a:ext cx="0" cy="539496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CustomShape 2">
            <a:extLst>
              <a:ext uri="{FF2B5EF4-FFF2-40B4-BE49-F238E27FC236}">
                <a16:creationId xmlns:a16="http://schemas.microsoft.com/office/drawing/2014/main" id="{74C59639-D6E9-4620-A426-8E64BD8C58A9}"/>
              </a:ext>
            </a:extLst>
          </p:cNvPr>
          <p:cNvSpPr/>
          <p:nvPr/>
        </p:nvSpPr>
        <p:spPr>
          <a:xfrm>
            <a:off x="6646560" y="2043702"/>
            <a:ext cx="755239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Water</a:t>
            </a:r>
            <a:endParaRPr lang="en-US" spc="-1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C80C501C-809C-42BB-8A89-5FBC7BBB1859}"/>
              </a:ext>
            </a:extLst>
          </p:cNvPr>
          <p:cNvSpPr/>
          <p:nvPr/>
        </p:nvSpPr>
        <p:spPr>
          <a:xfrm>
            <a:off x="8040216" y="2960728"/>
            <a:ext cx="1512168" cy="72008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NH</a:t>
            </a:r>
            <a:r>
              <a:rPr lang="en-GB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4</a:t>
            </a:r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NO</a:t>
            </a:r>
            <a:r>
              <a:rPr lang="en-GB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3 </a:t>
            </a:r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production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A2B2B2CA-F842-49D6-8BD2-44E405504529}"/>
              </a:ext>
            </a:extLst>
          </p:cNvPr>
          <p:cNvCxnSpPr>
            <a:cxnSpLocks/>
            <a:stCxn id="67" idx="3"/>
            <a:endCxn id="93" idx="1"/>
          </p:cNvCxnSpPr>
          <p:nvPr/>
        </p:nvCxnSpPr>
        <p:spPr>
          <a:xfrm>
            <a:off x="7716282" y="3319266"/>
            <a:ext cx="323934" cy="1502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CustomShape 2">
            <a:extLst>
              <a:ext uri="{FF2B5EF4-FFF2-40B4-BE49-F238E27FC236}">
                <a16:creationId xmlns:a16="http://schemas.microsoft.com/office/drawing/2014/main" id="{99439E33-07CB-4240-A02C-AEB7F47E571C}"/>
              </a:ext>
            </a:extLst>
          </p:cNvPr>
          <p:cNvSpPr/>
          <p:nvPr/>
        </p:nvSpPr>
        <p:spPr>
          <a:xfrm>
            <a:off x="8026504" y="3673533"/>
            <a:ext cx="1440161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149 </a:t>
            </a:r>
            <a:r>
              <a:rPr lang="en-US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°</a:t>
            </a: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C, 1 bar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E0AE4D73-DE5C-46CF-B21D-9227C80B62FB}"/>
              </a:ext>
            </a:extLst>
          </p:cNvPr>
          <p:cNvCxnSpPr>
            <a:cxnSpLocks/>
          </p:cNvCxnSpPr>
          <p:nvPr/>
        </p:nvCxnSpPr>
        <p:spPr>
          <a:xfrm>
            <a:off x="8400256" y="2419386"/>
            <a:ext cx="0" cy="539496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CustomShape 2">
            <a:extLst>
              <a:ext uri="{FF2B5EF4-FFF2-40B4-BE49-F238E27FC236}">
                <a16:creationId xmlns:a16="http://schemas.microsoft.com/office/drawing/2014/main" id="{A5AD8C6B-3723-421A-B31A-6622A03E1B0D}"/>
              </a:ext>
            </a:extLst>
          </p:cNvPr>
          <p:cNvSpPr/>
          <p:nvPr/>
        </p:nvSpPr>
        <p:spPr>
          <a:xfrm>
            <a:off x="7876595" y="1976502"/>
            <a:ext cx="1298772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Fossil NH</a:t>
            </a:r>
            <a:r>
              <a:rPr lang="en-US" spc="-1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3</a:t>
            </a: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 or green NH</a:t>
            </a:r>
            <a:r>
              <a:rPr lang="en-US" spc="-1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3</a:t>
            </a:r>
            <a:endParaRPr lang="en-US" spc="-1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48B3BE78-9602-4486-BE40-4255D80094C7}"/>
              </a:ext>
            </a:extLst>
          </p:cNvPr>
          <p:cNvSpPr/>
          <p:nvPr/>
        </p:nvSpPr>
        <p:spPr>
          <a:xfrm>
            <a:off x="4392369" y="2960728"/>
            <a:ext cx="1512168" cy="72008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NO</a:t>
            </a:r>
            <a:r>
              <a:rPr lang="en-GB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2</a:t>
            </a:r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 production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1FB23255-04BB-46A5-BE2F-9F8A7BBB7CEF}"/>
              </a:ext>
            </a:extLst>
          </p:cNvPr>
          <p:cNvCxnSpPr>
            <a:cxnSpLocks/>
            <a:stCxn id="111" idx="3"/>
            <a:endCxn id="67" idx="1"/>
          </p:cNvCxnSpPr>
          <p:nvPr/>
        </p:nvCxnSpPr>
        <p:spPr>
          <a:xfrm flipV="1">
            <a:off x="5904537" y="3319266"/>
            <a:ext cx="299577" cy="1502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CustomShape 2">
            <a:extLst>
              <a:ext uri="{FF2B5EF4-FFF2-40B4-BE49-F238E27FC236}">
                <a16:creationId xmlns:a16="http://schemas.microsoft.com/office/drawing/2014/main" id="{7545D596-31AA-4F90-AFEE-46CDD8EAD1C5}"/>
              </a:ext>
            </a:extLst>
          </p:cNvPr>
          <p:cNvSpPr/>
          <p:nvPr/>
        </p:nvSpPr>
        <p:spPr>
          <a:xfrm>
            <a:off x="4428372" y="3673533"/>
            <a:ext cx="1440161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38 </a:t>
            </a:r>
            <a:r>
              <a:rPr lang="en-US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°</a:t>
            </a: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C, 8 bar</a:t>
            </a: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3623F530-F167-4CD0-BAC7-F5A5DE1748F4}"/>
              </a:ext>
            </a:extLst>
          </p:cNvPr>
          <p:cNvCxnSpPr>
            <a:cxnSpLocks/>
          </p:cNvCxnSpPr>
          <p:nvPr/>
        </p:nvCxnSpPr>
        <p:spPr>
          <a:xfrm flipV="1">
            <a:off x="9192344" y="2419386"/>
            <a:ext cx="0" cy="539840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CustomShape 2">
            <a:extLst>
              <a:ext uri="{FF2B5EF4-FFF2-40B4-BE49-F238E27FC236}">
                <a16:creationId xmlns:a16="http://schemas.microsoft.com/office/drawing/2014/main" id="{52A6A9C7-295C-43BC-8677-8694F1AFB494}"/>
              </a:ext>
            </a:extLst>
          </p:cNvPr>
          <p:cNvSpPr/>
          <p:nvPr/>
        </p:nvSpPr>
        <p:spPr>
          <a:xfrm>
            <a:off x="9036496" y="2059346"/>
            <a:ext cx="922239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N</a:t>
            </a:r>
            <a:r>
              <a:rPr lang="en-US" spc="-1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2</a:t>
            </a:r>
            <a:endParaRPr lang="en-US" spc="-1" baseline="-25000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21" name="Rectangle: Rounded Corners 120">
            <a:extLst>
              <a:ext uri="{FF2B5EF4-FFF2-40B4-BE49-F238E27FC236}">
                <a16:creationId xmlns:a16="http://schemas.microsoft.com/office/drawing/2014/main" id="{1828BF54-1235-4E31-8D5B-0D401EC61EE8}"/>
              </a:ext>
            </a:extLst>
          </p:cNvPr>
          <p:cNvSpPr/>
          <p:nvPr/>
        </p:nvSpPr>
        <p:spPr>
          <a:xfrm>
            <a:off x="9797818" y="2959977"/>
            <a:ext cx="1512168" cy="72008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NH</a:t>
            </a:r>
            <a:r>
              <a:rPr lang="en-GB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4</a:t>
            </a:r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NO</a:t>
            </a:r>
            <a:r>
              <a:rPr lang="en-GB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3</a:t>
            </a:r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 thermal decomposition</a:t>
            </a:r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D6172574-29E5-4909-A49F-367030EC2DC6}"/>
              </a:ext>
            </a:extLst>
          </p:cNvPr>
          <p:cNvCxnSpPr>
            <a:cxnSpLocks/>
            <a:stCxn id="93" idx="3"/>
            <a:endCxn id="121" idx="1"/>
          </p:cNvCxnSpPr>
          <p:nvPr/>
        </p:nvCxnSpPr>
        <p:spPr>
          <a:xfrm flipV="1">
            <a:off x="9552384" y="3320017"/>
            <a:ext cx="245434" cy="751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3B88D80A-EA99-484B-84F9-1BF1A5C0870B}"/>
              </a:ext>
            </a:extLst>
          </p:cNvPr>
          <p:cNvCxnSpPr>
            <a:cxnSpLocks/>
          </p:cNvCxnSpPr>
          <p:nvPr/>
        </p:nvCxnSpPr>
        <p:spPr>
          <a:xfrm flipV="1">
            <a:off x="10541286" y="2431270"/>
            <a:ext cx="0" cy="539840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CustomShape 2">
            <a:extLst>
              <a:ext uri="{FF2B5EF4-FFF2-40B4-BE49-F238E27FC236}">
                <a16:creationId xmlns:a16="http://schemas.microsoft.com/office/drawing/2014/main" id="{A9483F08-A416-4E22-B912-D234C0BC364D}"/>
              </a:ext>
            </a:extLst>
          </p:cNvPr>
          <p:cNvSpPr/>
          <p:nvPr/>
        </p:nvSpPr>
        <p:spPr>
          <a:xfrm>
            <a:off x="10344473" y="1660459"/>
            <a:ext cx="1028823" cy="105891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NO</a:t>
            </a:r>
            <a:r>
              <a:rPr lang="en-US" spc="-1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2</a:t>
            </a:r>
          </a:p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NO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41714CF9-A3C0-4A39-8A53-80F5E68A63EA}"/>
              </a:ext>
            </a:extLst>
          </p:cNvPr>
          <p:cNvSpPr/>
          <p:nvPr/>
        </p:nvSpPr>
        <p:spPr>
          <a:xfrm>
            <a:off x="11555419" y="2959977"/>
            <a:ext cx="453876" cy="72008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S2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55FA22B3-4B4B-4CC5-ACB8-40A11A72586A}"/>
              </a:ext>
            </a:extLst>
          </p:cNvPr>
          <p:cNvCxnSpPr>
            <a:cxnSpLocks/>
            <a:stCxn id="121" idx="3"/>
            <a:endCxn id="125" idx="1"/>
          </p:cNvCxnSpPr>
          <p:nvPr/>
        </p:nvCxnSpPr>
        <p:spPr>
          <a:xfrm>
            <a:off x="11309986" y="3320017"/>
            <a:ext cx="245433" cy="0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418642FE-6691-47F6-BFF1-A919644BFE23}"/>
              </a:ext>
            </a:extLst>
          </p:cNvPr>
          <p:cNvCxnSpPr>
            <a:cxnSpLocks/>
          </p:cNvCxnSpPr>
          <p:nvPr/>
        </p:nvCxnSpPr>
        <p:spPr>
          <a:xfrm flipV="1">
            <a:off x="11784632" y="2419386"/>
            <a:ext cx="0" cy="539840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CustomShape 2">
            <a:extLst>
              <a:ext uri="{FF2B5EF4-FFF2-40B4-BE49-F238E27FC236}">
                <a16:creationId xmlns:a16="http://schemas.microsoft.com/office/drawing/2014/main" id="{2D8862CB-0201-45E8-B571-AAF83FADD597}"/>
              </a:ext>
            </a:extLst>
          </p:cNvPr>
          <p:cNvSpPr/>
          <p:nvPr/>
        </p:nvSpPr>
        <p:spPr>
          <a:xfrm>
            <a:off x="11229823" y="1841498"/>
            <a:ext cx="1028823" cy="105891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N</a:t>
            </a:r>
            <a:r>
              <a:rPr lang="en-US" spc="-1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2</a:t>
            </a: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O</a:t>
            </a:r>
            <a:endParaRPr lang="en-US" spc="-1" baseline="-25000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  <a:sym typeface="Wingdings" pitchFamily="2" charset="2"/>
            </a:endParaRPr>
          </a:p>
          <a:p>
            <a:pPr algn="ctr">
              <a:lnSpc>
                <a:spcPct val="90000"/>
              </a:lnSpc>
            </a:pPr>
            <a:endParaRPr lang="en-US" sz="1200" spc="-1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7787A92C-C2E8-4DF5-B53B-05830D1D3309}"/>
              </a:ext>
            </a:extLst>
          </p:cNvPr>
          <p:cNvCxnSpPr>
            <a:cxnSpLocks/>
          </p:cNvCxnSpPr>
          <p:nvPr/>
        </p:nvCxnSpPr>
        <p:spPr>
          <a:xfrm>
            <a:off x="11784632" y="3673533"/>
            <a:ext cx="0" cy="539496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CustomShape 2">
            <a:extLst>
              <a:ext uri="{FF2B5EF4-FFF2-40B4-BE49-F238E27FC236}">
                <a16:creationId xmlns:a16="http://schemas.microsoft.com/office/drawing/2014/main" id="{C79D9E04-3BE1-4171-ADB1-FA3A616AD64C}"/>
              </a:ext>
            </a:extLst>
          </p:cNvPr>
          <p:cNvSpPr/>
          <p:nvPr/>
        </p:nvSpPr>
        <p:spPr>
          <a:xfrm>
            <a:off x="9825666" y="3667947"/>
            <a:ext cx="1440161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260 </a:t>
            </a:r>
            <a:r>
              <a:rPr lang="en-US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°</a:t>
            </a: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C, 1 bar</a:t>
            </a:r>
          </a:p>
        </p:txBody>
      </p:sp>
    </p:spTree>
    <p:extLst>
      <p:ext uri="{BB962C8B-B14F-4D97-AF65-F5344CB8AC3E}">
        <p14:creationId xmlns:p14="http://schemas.microsoft.com/office/powerpoint/2010/main" val="3565167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107A587-DA2F-4FA8-A055-6B182BBC4297}"/>
              </a:ext>
            </a:extLst>
          </p:cNvPr>
          <p:cNvGrpSpPr/>
          <p:nvPr/>
        </p:nvGrpSpPr>
        <p:grpSpPr>
          <a:xfrm>
            <a:off x="1446809" y="1853795"/>
            <a:ext cx="2981201" cy="2718078"/>
            <a:chOff x="1446809" y="1853795"/>
            <a:chExt cx="2981201" cy="2718078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BC98793-B5DC-4495-BCAF-F8E2AF2CD4A7}"/>
                </a:ext>
              </a:extLst>
            </p:cNvPr>
            <p:cNvCxnSpPr>
              <a:cxnSpLocks/>
            </p:cNvCxnSpPr>
            <p:nvPr/>
          </p:nvCxnSpPr>
          <p:spPr>
            <a:xfrm>
              <a:off x="1446809" y="3319266"/>
              <a:ext cx="360041" cy="0"/>
            </a:xfrm>
            <a:prstGeom prst="straightConnector1">
              <a:avLst/>
            </a:prstGeom>
            <a:ln>
              <a:solidFill>
                <a:schemeClr val="tx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D62AB068-D7D6-4B31-B751-CD294AB62352}"/>
                </a:ext>
              </a:extLst>
            </p:cNvPr>
            <p:cNvSpPr/>
            <p:nvPr/>
          </p:nvSpPr>
          <p:spPr>
            <a:xfrm>
              <a:off x="1806850" y="2960728"/>
              <a:ext cx="1512168" cy="720080"/>
            </a:xfrm>
            <a:prstGeom prst="roundRect">
              <a:avLst/>
            </a:prstGeom>
            <a:solidFill>
              <a:schemeClr val="tx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</a:rPr>
                <a:t>Direct NH</a:t>
              </a:r>
              <a:r>
                <a:rPr lang="en-GB" baseline="-25000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</a:rPr>
                <a:t>3</a:t>
              </a:r>
              <a:r>
                <a:rPr lang="en-GB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</a:rPr>
                <a:t> oxidation</a:t>
              </a:r>
            </a:p>
          </p:txBody>
        </p:sp>
        <p:sp>
          <p:nvSpPr>
            <p:cNvPr id="47" name="CustomShape 2">
              <a:extLst>
                <a:ext uri="{FF2B5EF4-FFF2-40B4-BE49-F238E27FC236}">
                  <a16:creationId xmlns:a16="http://schemas.microsoft.com/office/drawing/2014/main" id="{31466969-43FF-47A0-9952-34203EE55E59}"/>
                </a:ext>
              </a:extLst>
            </p:cNvPr>
            <p:cNvSpPr/>
            <p:nvPr/>
          </p:nvSpPr>
          <p:spPr>
            <a:xfrm>
              <a:off x="1865240" y="3673533"/>
              <a:ext cx="1440161" cy="43788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spc="-1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350 </a:t>
              </a:r>
              <a:r>
                <a:rPr lang="en-US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</a:rPr>
                <a:t>°</a:t>
              </a:r>
              <a:r>
                <a:rPr lang="en-US" spc="-1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C, 1 bar</a:t>
              </a: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33F3F5C7-8036-4B9A-913A-011EC9A042AE}"/>
                </a:ext>
              </a:extLst>
            </p:cNvPr>
            <p:cNvCxnSpPr>
              <a:cxnSpLocks/>
              <a:stCxn id="39" idx="3"/>
              <a:endCxn id="66" idx="1"/>
            </p:cNvCxnSpPr>
            <p:nvPr/>
          </p:nvCxnSpPr>
          <p:spPr>
            <a:xfrm>
              <a:off x="3319018" y="3320768"/>
              <a:ext cx="326342" cy="0"/>
            </a:xfrm>
            <a:prstGeom prst="straightConnector1">
              <a:avLst/>
            </a:prstGeom>
            <a:ln>
              <a:solidFill>
                <a:schemeClr val="tx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2F2AE57A-3D3D-4BBF-A4B8-E3702F4A3510}"/>
                </a:ext>
              </a:extLst>
            </p:cNvPr>
            <p:cNvSpPr/>
            <p:nvPr/>
          </p:nvSpPr>
          <p:spPr>
            <a:xfrm>
              <a:off x="3645360" y="2960728"/>
              <a:ext cx="506424" cy="720080"/>
            </a:xfrm>
            <a:prstGeom prst="roundRect">
              <a:avLst/>
            </a:prstGeom>
            <a:solidFill>
              <a:schemeClr val="tx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</a:rPr>
                <a:t>S1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9D3B748F-83E3-4C64-B75E-D30E9065B4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92630" y="3680808"/>
              <a:ext cx="0" cy="539496"/>
            </a:xfrm>
            <a:prstGeom prst="straightConnector1">
              <a:avLst/>
            </a:prstGeom>
            <a:ln>
              <a:solidFill>
                <a:schemeClr val="tx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CustomShape 2">
              <a:extLst>
                <a:ext uri="{FF2B5EF4-FFF2-40B4-BE49-F238E27FC236}">
                  <a16:creationId xmlns:a16="http://schemas.microsoft.com/office/drawing/2014/main" id="{449032A1-9EA2-4D89-BB19-507D1BD7217D}"/>
                </a:ext>
              </a:extLst>
            </p:cNvPr>
            <p:cNvSpPr/>
            <p:nvPr/>
          </p:nvSpPr>
          <p:spPr>
            <a:xfrm>
              <a:off x="3299253" y="4133985"/>
              <a:ext cx="1128757" cy="43788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spc="-1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Wastewater</a:t>
              </a:r>
              <a:endPara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</a:endParaRP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3FE21AD-E671-4409-9673-9C0A709E5596}"/>
                </a:ext>
              </a:extLst>
            </p:cNvPr>
            <p:cNvCxnSpPr>
              <a:cxnSpLocks/>
            </p:cNvCxnSpPr>
            <p:nvPr/>
          </p:nvCxnSpPr>
          <p:spPr>
            <a:xfrm>
              <a:off x="2562934" y="2420888"/>
              <a:ext cx="0" cy="539496"/>
            </a:xfrm>
            <a:prstGeom prst="straightConnector1">
              <a:avLst/>
            </a:prstGeom>
            <a:ln>
              <a:solidFill>
                <a:schemeClr val="tx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CustomShape 2">
              <a:extLst>
                <a:ext uri="{FF2B5EF4-FFF2-40B4-BE49-F238E27FC236}">
                  <a16:creationId xmlns:a16="http://schemas.microsoft.com/office/drawing/2014/main" id="{74A1EC9B-3517-45B5-AC31-4175C57BE63C}"/>
                </a:ext>
              </a:extLst>
            </p:cNvPr>
            <p:cNvSpPr/>
            <p:nvPr/>
          </p:nvSpPr>
          <p:spPr>
            <a:xfrm>
              <a:off x="2368836" y="2078100"/>
              <a:ext cx="387759" cy="43788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US" spc="-1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O</a:t>
              </a:r>
              <a:r>
                <a:rPr lang="en-US" spc="-1" baseline="-25000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2</a:t>
              </a:r>
              <a:endParaRPr lang="en-US" spc="-1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</a:endParaRPr>
            </a:p>
          </p:txBody>
        </p: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418642FE-6691-47F6-BFF1-A919644BFE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99351" y="2420888"/>
              <a:ext cx="0" cy="539840"/>
            </a:xfrm>
            <a:prstGeom prst="straightConnector1">
              <a:avLst/>
            </a:prstGeom>
            <a:ln>
              <a:solidFill>
                <a:schemeClr val="tx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CustomShape 2">
              <a:extLst>
                <a:ext uri="{FF2B5EF4-FFF2-40B4-BE49-F238E27FC236}">
                  <a16:creationId xmlns:a16="http://schemas.microsoft.com/office/drawing/2014/main" id="{2D8862CB-0201-45E8-B571-AAF83FADD597}"/>
                </a:ext>
              </a:extLst>
            </p:cNvPr>
            <p:cNvSpPr/>
            <p:nvPr/>
          </p:nvSpPr>
          <p:spPr>
            <a:xfrm>
              <a:off x="3393565" y="1853795"/>
              <a:ext cx="1028823" cy="1058915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spc="-1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N</a:t>
              </a:r>
              <a:r>
                <a:rPr lang="en-US" spc="-1" baseline="-25000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2</a:t>
              </a:r>
              <a:r>
                <a:rPr lang="en-US" spc="-1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O</a:t>
              </a:r>
              <a:endParaRPr lang="en-US" spc="-1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endParaRPr>
            </a:p>
            <a:p>
              <a:pPr algn="ctr">
                <a:lnSpc>
                  <a:spcPct val="90000"/>
                </a:lnSpc>
              </a:pPr>
              <a:endPara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924B8717-856B-4E0C-BBC8-C813153E2D24}"/>
              </a:ext>
            </a:extLst>
          </p:cNvPr>
          <p:cNvSpPr txBox="1"/>
          <p:nvPr/>
        </p:nvSpPr>
        <p:spPr>
          <a:xfrm>
            <a:off x="364302" y="4691121"/>
            <a:ext cx="1808508" cy="523220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Unit processes</a:t>
            </a:r>
          </a:p>
          <a:p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S1 – flash separator</a:t>
            </a:r>
          </a:p>
        </p:txBody>
      </p:sp>
      <p:sp>
        <p:nvSpPr>
          <p:cNvPr id="19" name="CustomShape 2">
            <a:extLst>
              <a:ext uri="{FF2B5EF4-FFF2-40B4-BE49-F238E27FC236}">
                <a16:creationId xmlns:a16="http://schemas.microsoft.com/office/drawing/2014/main" id="{07B0D928-18D9-48E2-A016-3E0359C8335D}"/>
              </a:ext>
            </a:extLst>
          </p:cNvPr>
          <p:cNvSpPr/>
          <p:nvPr/>
        </p:nvSpPr>
        <p:spPr>
          <a:xfrm>
            <a:off x="364302" y="3070264"/>
            <a:ext cx="1512168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Fossil NH</a:t>
            </a:r>
            <a:r>
              <a:rPr lang="en-US" spc="-1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3</a:t>
            </a: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 or green NH</a:t>
            </a:r>
            <a:r>
              <a:rPr lang="en-US" spc="-1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3</a:t>
            </a:r>
            <a:endParaRPr lang="en-US" spc="-1" baseline="-25000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837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ustomShape 2">
            <a:extLst>
              <a:ext uri="{FF2B5EF4-FFF2-40B4-BE49-F238E27FC236}">
                <a16:creationId xmlns:a16="http://schemas.microsoft.com/office/drawing/2014/main" id="{E2FB009B-EDF2-4266-B96D-91C77784B943}"/>
              </a:ext>
            </a:extLst>
          </p:cNvPr>
          <p:cNvSpPr/>
          <p:nvPr/>
        </p:nvSpPr>
        <p:spPr>
          <a:xfrm>
            <a:off x="495819" y="3062899"/>
            <a:ext cx="1512168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Fossil H</a:t>
            </a:r>
            <a:r>
              <a:rPr lang="en-US" spc="-1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2</a:t>
            </a: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 or green H</a:t>
            </a:r>
            <a:r>
              <a:rPr lang="en-US" spc="-1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2</a:t>
            </a:r>
            <a:endParaRPr lang="en-US" spc="-1" baseline="-25000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BC98793-B5DC-4495-BCAF-F8E2AF2CD4A7}"/>
              </a:ext>
            </a:extLst>
          </p:cNvPr>
          <p:cNvCxnSpPr>
            <a:cxnSpLocks/>
          </p:cNvCxnSpPr>
          <p:nvPr/>
        </p:nvCxnSpPr>
        <p:spPr>
          <a:xfrm>
            <a:off x="1446809" y="3319266"/>
            <a:ext cx="360041" cy="0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62AB068-D7D6-4B31-B751-CD294AB62352}"/>
              </a:ext>
            </a:extLst>
          </p:cNvPr>
          <p:cNvSpPr/>
          <p:nvPr/>
        </p:nvSpPr>
        <p:spPr>
          <a:xfrm>
            <a:off x="1806850" y="2960728"/>
            <a:ext cx="1512168" cy="72008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Hydroquinone production</a:t>
            </a:r>
          </a:p>
        </p:txBody>
      </p:sp>
      <p:sp>
        <p:nvSpPr>
          <p:cNvPr id="47" name="CustomShape 2">
            <a:extLst>
              <a:ext uri="{FF2B5EF4-FFF2-40B4-BE49-F238E27FC236}">
                <a16:creationId xmlns:a16="http://schemas.microsoft.com/office/drawing/2014/main" id="{31466969-43FF-47A0-9952-34203EE55E59}"/>
              </a:ext>
            </a:extLst>
          </p:cNvPr>
          <p:cNvSpPr/>
          <p:nvPr/>
        </p:nvSpPr>
        <p:spPr>
          <a:xfrm>
            <a:off x="1865240" y="3673533"/>
            <a:ext cx="1440161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36 </a:t>
            </a:r>
            <a:r>
              <a:rPr lang="en-US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°</a:t>
            </a: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C, 2 bar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3F3F5C7-8036-4B9A-913A-011EC9A042AE}"/>
              </a:ext>
            </a:extLst>
          </p:cNvPr>
          <p:cNvCxnSpPr>
            <a:cxnSpLocks/>
            <a:stCxn id="39" idx="3"/>
            <a:endCxn id="66" idx="1"/>
          </p:cNvCxnSpPr>
          <p:nvPr/>
        </p:nvCxnSpPr>
        <p:spPr>
          <a:xfrm>
            <a:off x="3319018" y="3320768"/>
            <a:ext cx="326342" cy="0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2F2AE57A-3D3D-4BBF-A4B8-E3702F4A3510}"/>
              </a:ext>
            </a:extLst>
          </p:cNvPr>
          <p:cNvSpPr/>
          <p:nvPr/>
        </p:nvSpPr>
        <p:spPr>
          <a:xfrm>
            <a:off x="3645360" y="2960728"/>
            <a:ext cx="449495" cy="72008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S1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3FE21AD-E671-4409-9673-9C0A709E5596}"/>
              </a:ext>
            </a:extLst>
          </p:cNvPr>
          <p:cNvCxnSpPr>
            <a:cxnSpLocks/>
          </p:cNvCxnSpPr>
          <p:nvPr/>
        </p:nvCxnSpPr>
        <p:spPr>
          <a:xfrm>
            <a:off x="2562934" y="2413613"/>
            <a:ext cx="0" cy="539496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ustomShape 2">
            <a:extLst>
              <a:ext uri="{FF2B5EF4-FFF2-40B4-BE49-F238E27FC236}">
                <a16:creationId xmlns:a16="http://schemas.microsoft.com/office/drawing/2014/main" id="{74A1EC9B-3517-45B5-AC31-4175C57BE63C}"/>
              </a:ext>
            </a:extLst>
          </p:cNvPr>
          <p:cNvSpPr/>
          <p:nvPr/>
        </p:nvSpPr>
        <p:spPr>
          <a:xfrm>
            <a:off x="1974735" y="1962872"/>
            <a:ext cx="1470704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2-Ethyl anthraquinone</a:t>
            </a:r>
            <a:endParaRPr lang="en-US" spc="-1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4BF26761-D956-47A9-A346-64D4319AF37A}"/>
              </a:ext>
            </a:extLst>
          </p:cNvPr>
          <p:cNvSpPr/>
          <p:nvPr/>
        </p:nvSpPr>
        <p:spPr>
          <a:xfrm>
            <a:off x="6204114" y="2959226"/>
            <a:ext cx="1512168" cy="72008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H</a:t>
            </a:r>
            <a:r>
              <a:rPr lang="en-GB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2</a:t>
            </a:r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O</a:t>
            </a:r>
            <a:r>
              <a:rPr lang="en-GB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2</a:t>
            </a:r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 production</a:t>
            </a:r>
          </a:p>
        </p:txBody>
      </p:sp>
      <p:sp>
        <p:nvSpPr>
          <p:cNvPr id="82" name="CustomShape 2">
            <a:extLst>
              <a:ext uri="{FF2B5EF4-FFF2-40B4-BE49-F238E27FC236}">
                <a16:creationId xmlns:a16="http://schemas.microsoft.com/office/drawing/2014/main" id="{5267D28E-A1D3-4ED8-BEC6-8BE3450DC7C9}"/>
              </a:ext>
            </a:extLst>
          </p:cNvPr>
          <p:cNvSpPr/>
          <p:nvPr/>
        </p:nvSpPr>
        <p:spPr>
          <a:xfrm>
            <a:off x="6240116" y="3673533"/>
            <a:ext cx="1440161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25 </a:t>
            </a:r>
            <a:r>
              <a:rPr lang="en-US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°</a:t>
            </a: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C, 10 bar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FB0CEA6-91BC-4507-8F8E-7EAFA44FE50B}"/>
              </a:ext>
            </a:extLst>
          </p:cNvPr>
          <p:cNvCxnSpPr>
            <a:cxnSpLocks/>
          </p:cNvCxnSpPr>
          <p:nvPr/>
        </p:nvCxnSpPr>
        <p:spPr>
          <a:xfrm>
            <a:off x="6960196" y="2420481"/>
            <a:ext cx="0" cy="539496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CustomShape 2">
            <a:extLst>
              <a:ext uri="{FF2B5EF4-FFF2-40B4-BE49-F238E27FC236}">
                <a16:creationId xmlns:a16="http://schemas.microsoft.com/office/drawing/2014/main" id="{74C59639-D6E9-4620-A426-8E64BD8C58A9}"/>
              </a:ext>
            </a:extLst>
          </p:cNvPr>
          <p:cNvSpPr/>
          <p:nvPr/>
        </p:nvSpPr>
        <p:spPr>
          <a:xfrm>
            <a:off x="6766147" y="2074134"/>
            <a:ext cx="388098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O</a:t>
            </a:r>
            <a:r>
              <a:rPr lang="en-US" spc="-1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2</a:t>
            </a:r>
            <a:endParaRPr lang="en-US" spc="-1" baseline="-25000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A2B2B2CA-F842-49D6-8BD2-44E405504529}"/>
              </a:ext>
            </a:extLst>
          </p:cNvPr>
          <p:cNvCxnSpPr>
            <a:cxnSpLocks/>
            <a:stCxn id="67" idx="3"/>
          </p:cNvCxnSpPr>
          <p:nvPr/>
        </p:nvCxnSpPr>
        <p:spPr>
          <a:xfrm>
            <a:off x="7716282" y="3319266"/>
            <a:ext cx="323934" cy="1502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E0AE4D73-DE5C-46CF-B21D-9227C80B62FB}"/>
              </a:ext>
            </a:extLst>
          </p:cNvPr>
          <p:cNvCxnSpPr>
            <a:cxnSpLocks/>
          </p:cNvCxnSpPr>
          <p:nvPr/>
        </p:nvCxnSpPr>
        <p:spPr>
          <a:xfrm>
            <a:off x="8291029" y="2431270"/>
            <a:ext cx="0" cy="539496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CustomShape 2">
            <a:extLst>
              <a:ext uri="{FF2B5EF4-FFF2-40B4-BE49-F238E27FC236}">
                <a16:creationId xmlns:a16="http://schemas.microsoft.com/office/drawing/2014/main" id="{A5AD8C6B-3723-421A-B31A-6622A03E1B0D}"/>
              </a:ext>
            </a:extLst>
          </p:cNvPr>
          <p:cNvSpPr/>
          <p:nvPr/>
        </p:nvSpPr>
        <p:spPr>
          <a:xfrm>
            <a:off x="7503620" y="2108188"/>
            <a:ext cx="1512168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Water</a:t>
            </a:r>
            <a:endParaRPr lang="en-US" spc="-1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48B3BE78-9602-4486-BE40-4255D80094C7}"/>
              </a:ext>
            </a:extLst>
          </p:cNvPr>
          <p:cNvSpPr/>
          <p:nvPr/>
        </p:nvSpPr>
        <p:spPr>
          <a:xfrm>
            <a:off x="4392369" y="2960728"/>
            <a:ext cx="1512168" cy="72008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NO</a:t>
            </a:r>
            <a:r>
              <a:rPr lang="en-GB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2</a:t>
            </a:r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 production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1FB23255-04BB-46A5-BE2F-9F8A7BBB7CEF}"/>
              </a:ext>
            </a:extLst>
          </p:cNvPr>
          <p:cNvCxnSpPr>
            <a:cxnSpLocks/>
            <a:stCxn id="111" idx="3"/>
            <a:endCxn id="67" idx="1"/>
          </p:cNvCxnSpPr>
          <p:nvPr/>
        </p:nvCxnSpPr>
        <p:spPr>
          <a:xfrm flipV="1">
            <a:off x="5904537" y="3319266"/>
            <a:ext cx="299577" cy="1502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CustomShape 2">
            <a:extLst>
              <a:ext uri="{FF2B5EF4-FFF2-40B4-BE49-F238E27FC236}">
                <a16:creationId xmlns:a16="http://schemas.microsoft.com/office/drawing/2014/main" id="{7545D596-31AA-4F90-AFEE-46CDD8EAD1C5}"/>
              </a:ext>
            </a:extLst>
          </p:cNvPr>
          <p:cNvSpPr/>
          <p:nvPr/>
        </p:nvSpPr>
        <p:spPr>
          <a:xfrm>
            <a:off x="4428372" y="3673533"/>
            <a:ext cx="1440161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38 </a:t>
            </a:r>
            <a:r>
              <a:rPr lang="en-US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°</a:t>
            </a: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C, 8 bar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41714CF9-A3C0-4A39-8A53-80F5E68A63EA}"/>
              </a:ext>
            </a:extLst>
          </p:cNvPr>
          <p:cNvSpPr/>
          <p:nvPr/>
        </p:nvSpPr>
        <p:spPr>
          <a:xfrm>
            <a:off x="9228449" y="2953453"/>
            <a:ext cx="487777" cy="72008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C2</a:t>
            </a: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8F73E44D-09D9-43DF-A126-F09D0634E4C7}"/>
              </a:ext>
            </a:extLst>
          </p:cNvPr>
          <p:cNvCxnSpPr>
            <a:cxnSpLocks/>
            <a:stCxn id="66" idx="2"/>
            <a:endCxn id="111" idx="1"/>
          </p:cNvCxnSpPr>
          <p:nvPr/>
        </p:nvCxnSpPr>
        <p:spPr>
          <a:xfrm rot="5400000" flipH="1" flipV="1">
            <a:off x="3951218" y="3239657"/>
            <a:ext cx="360040" cy="522261"/>
          </a:xfrm>
          <a:prstGeom prst="bentConnector4">
            <a:avLst>
              <a:gd name="adj1" fmla="val -63493"/>
              <a:gd name="adj2" fmla="val 71517"/>
            </a:avLst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56322BE-1A29-4023-A69D-0CB6645CF259}"/>
              </a:ext>
            </a:extLst>
          </p:cNvPr>
          <p:cNvCxnSpPr>
            <a:cxnSpLocks/>
          </p:cNvCxnSpPr>
          <p:nvPr/>
        </p:nvCxnSpPr>
        <p:spPr>
          <a:xfrm flipV="1">
            <a:off x="3864847" y="2419386"/>
            <a:ext cx="0" cy="539840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CustomShape 2">
            <a:extLst>
              <a:ext uri="{FF2B5EF4-FFF2-40B4-BE49-F238E27FC236}">
                <a16:creationId xmlns:a16="http://schemas.microsoft.com/office/drawing/2014/main" id="{DAA1AFD0-C397-4FCE-8B5A-3571420260C3}"/>
              </a:ext>
            </a:extLst>
          </p:cNvPr>
          <p:cNvSpPr/>
          <p:nvPr/>
        </p:nvSpPr>
        <p:spPr>
          <a:xfrm>
            <a:off x="3522640" y="2058122"/>
            <a:ext cx="894113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Off-gas</a:t>
            </a:r>
            <a:endParaRPr lang="en-US" spc="-1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1825E7B7-9DA1-4F6B-BB9D-841831BAD59F}"/>
              </a:ext>
            </a:extLst>
          </p:cNvPr>
          <p:cNvSpPr/>
          <p:nvPr/>
        </p:nvSpPr>
        <p:spPr>
          <a:xfrm>
            <a:off x="8049041" y="2959977"/>
            <a:ext cx="484632" cy="72008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C1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65D292F-2638-4544-91F3-683DBE74302D}"/>
              </a:ext>
            </a:extLst>
          </p:cNvPr>
          <p:cNvCxnSpPr>
            <a:cxnSpLocks/>
          </p:cNvCxnSpPr>
          <p:nvPr/>
        </p:nvCxnSpPr>
        <p:spPr>
          <a:xfrm>
            <a:off x="8291029" y="3664154"/>
            <a:ext cx="0" cy="539496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CustomShape 2">
            <a:extLst>
              <a:ext uri="{FF2B5EF4-FFF2-40B4-BE49-F238E27FC236}">
                <a16:creationId xmlns:a16="http://schemas.microsoft.com/office/drawing/2014/main" id="{3F9350B9-D977-4C12-8A10-7941B587E685}"/>
              </a:ext>
            </a:extLst>
          </p:cNvPr>
          <p:cNvSpPr/>
          <p:nvPr/>
        </p:nvSpPr>
        <p:spPr>
          <a:xfrm>
            <a:off x="7430973" y="4250687"/>
            <a:ext cx="1746671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Recovered 2-Ethyl anthraquinone</a:t>
            </a:r>
            <a:endParaRPr lang="en-US" spc="-1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EC0C4DF-0174-4184-95D2-055535C7696D}"/>
              </a:ext>
            </a:extLst>
          </p:cNvPr>
          <p:cNvCxnSpPr>
            <a:cxnSpLocks/>
            <a:stCxn id="43" idx="3"/>
            <a:endCxn id="125" idx="1"/>
          </p:cNvCxnSpPr>
          <p:nvPr/>
        </p:nvCxnSpPr>
        <p:spPr>
          <a:xfrm flipV="1">
            <a:off x="8533673" y="3313493"/>
            <a:ext cx="694776" cy="6524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96D3878-1542-4D5A-B072-9A841488512D}"/>
              </a:ext>
            </a:extLst>
          </p:cNvPr>
          <p:cNvCxnSpPr>
            <a:cxnSpLocks/>
          </p:cNvCxnSpPr>
          <p:nvPr/>
        </p:nvCxnSpPr>
        <p:spPr>
          <a:xfrm flipV="1">
            <a:off x="9472337" y="2413613"/>
            <a:ext cx="0" cy="539840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94A80F2-A87A-413A-BE69-0B902D16A40E}"/>
              </a:ext>
            </a:extLst>
          </p:cNvPr>
          <p:cNvCxnSpPr>
            <a:cxnSpLocks/>
          </p:cNvCxnSpPr>
          <p:nvPr/>
        </p:nvCxnSpPr>
        <p:spPr>
          <a:xfrm>
            <a:off x="9462384" y="3673533"/>
            <a:ext cx="0" cy="539496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CustomShape 2">
            <a:extLst>
              <a:ext uri="{FF2B5EF4-FFF2-40B4-BE49-F238E27FC236}">
                <a16:creationId xmlns:a16="http://schemas.microsoft.com/office/drawing/2014/main" id="{28613302-1FFA-4D08-93AB-0316FCD6AC63}"/>
              </a:ext>
            </a:extLst>
          </p:cNvPr>
          <p:cNvSpPr/>
          <p:nvPr/>
        </p:nvSpPr>
        <p:spPr>
          <a:xfrm>
            <a:off x="8665975" y="2111074"/>
            <a:ext cx="1512168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Water</a:t>
            </a:r>
            <a:endParaRPr lang="en-US" spc="-1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58" name="CustomShape 2">
            <a:extLst>
              <a:ext uri="{FF2B5EF4-FFF2-40B4-BE49-F238E27FC236}">
                <a16:creationId xmlns:a16="http://schemas.microsoft.com/office/drawing/2014/main" id="{401A6337-FEE5-4BC1-8797-E8029EA70530}"/>
              </a:ext>
            </a:extLst>
          </p:cNvPr>
          <p:cNvSpPr/>
          <p:nvPr/>
        </p:nvSpPr>
        <p:spPr>
          <a:xfrm>
            <a:off x="8680331" y="4147200"/>
            <a:ext cx="1512168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GB" dirty="0">
                <a:latin typeface="+mj-lt"/>
                <a:ea typeface="Roboto" panose="02000000000000000000" pitchFamily="2" charset="0"/>
              </a:rPr>
              <a:t>H</a:t>
            </a:r>
            <a:r>
              <a:rPr lang="en-GB" baseline="-25000" dirty="0">
                <a:latin typeface="+mj-lt"/>
                <a:ea typeface="Roboto" panose="02000000000000000000" pitchFamily="2" charset="0"/>
              </a:rPr>
              <a:t>2</a:t>
            </a:r>
            <a:r>
              <a:rPr lang="en-GB" dirty="0">
                <a:latin typeface="+mj-lt"/>
                <a:ea typeface="Roboto" panose="02000000000000000000" pitchFamily="2" charset="0"/>
              </a:rPr>
              <a:t>O</a:t>
            </a:r>
            <a:r>
              <a:rPr lang="en-GB" baseline="-25000" dirty="0">
                <a:latin typeface="+mj-lt"/>
                <a:ea typeface="Roboto" panose="02000000000000000000" pitchFamily="2" charset="0"/>
              </a:rPr>
              <a:t>2</a:t>
            </a:r>
            <a:endParaRPr lang="en-US" spc="-1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2FF1670-E0F5-44B2-9460-A317923A48CE}"/>
              </a:ext>
            </a:extLst>
          </p:cNvPr>
          <p:cNvSpPr txBox="1"/>
          <p:nvPr/>
        </p:nvSpPr>
        <p:spPr>
          <a:xfrm>
            <a:off x="495819" y="4690872"/>
            <a:ext cx="2026517" cy="954107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Unit processes</a:t>
            </a:r>
          </a:p>
          <a:p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S1 – flash separator</a:t>
            </a:r>
          </a:p>
          <a:p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C1 – extraction column</a:t>
            </a:r>
          </a:p>
          <a:p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C2 – distillation column</a:t>
            </a:r>
          </a:p>
        </p:txBody>
      </p:sp>
    </p:spTree>
    <p:extLst>
      <p:ext uri="{BB962C8B-B14F-4D97-AF65-F5344CB8AC3E}">
        <p14:creationId xmlns:p14="http://schemas.microsoft.com/office/powerpoint/2010/main" val="3174085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ustomShape 2">
            <a:extLst>
              <a:ext uri="{FF2B5EF4-FFF2-40B4-BE49-F238E27FC236}">
                <a16:creationId xmlns:a16="http://schemas.microsoft.com/office/drawing/2014/main" id="{E2FB009B-EDF2-4266-B96D-91C77784B943}"/>
              </a:ext>
            </a:extLst>
          </p:cNvPr>
          <p:cNvSpPr/>
          <p:nvPr/>
        </p:nvSpPr>
        <p:spPr>
          <a:xfrm>
            <a:off x="611563" y="3100846"/>
            <a:ext cx="922148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Benzene</a:t>
            </a:r>
            <a:endParaRPr lang="en-US" spc="-1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BC98793-B5DC-4495-BCAF-F8E2AF2CD4A7}"/>
              </a:ext>
            </a:extLst>
          </p:cNvPr>
          <p:cNvCxnSpPr>
            <a:cxnSpLocks/>
          </p:cNvCxnSpPr>
          <p:nvPr/>
        </p:nvCxnSpPr>
        <p:spPr>
          <a:xfrm>
            <a:off x="1446809" y="3319266"/>
            <a:ext cx="360041" cy="0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62AB068-D7D6-4B31-B751-CD294AB62352}"/>
              </a:ext>
            </a:extLst>
          </p:cNvPr>
          <p:cNvSpPr/>
          <p:nvPr/>
        </p:nvSpPr>
        <p:spPr>
          <a:xfrm>
            <a:off x="1806850" y="2960728"/>
            <a:ext cx="1512168" cy="72008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Direct benzene oxidation</a:t>
            </a:r>
          </a:p>
        </p:txBody>
      </p:sp>
      <p:sp>
        <p:nvSpPr>
          <p:cNvPr id="47" name="CustomShape 2">
            <a:extLst>
              <a:ext uri="{FF2B5EF4-FFF2-40B4-BE49-F238E27FC236}">
                <a16:creationId xmlns:a16="http://schemas.microsoft.com/office/drawing/2014/main" id="{31466969-43FF-47A0-9952-34203EE55E59}"/>
              </a:ext>
            </a:extLst>
          </p:cNvPr>
          <p:cNvSpPr/>
          <p:nvPr/>
        </p:nvSpPr>
        <p:spPr>
          <a:xfrm>
            <a:off x="1865240" y="3673533"/>
            <a:ext cx="1440161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350 </a:t>
            </a:r>
            <a:r>
              <a:rPr lang="en-US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°</a:t>
            </a: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C, 1 bar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3F3F5C7-8036-4B9A-913A-011EC9A042AE}"/>
              </a:ext>
            </a:extLst>
          </p:cNvPr>
          <p:cNvCxnSpPr>
            <a:cxnSpLocks/>
            <a:stCxn id="39" idx="3"/>
            <a:endCxn id="66" idx="1"/>
          </p:cNvCxnSpPr>
          <p:nvPr/>
        </p:nvCxnSpPr>
        <p:spPr>
          <a:xfrm>
            <a:off x="3319018" y="3320768"/>
            <a:ext cx="326343" cy="0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2F2AE57A-3D3D-4BBF-A4B8-E3702F4A3510}"/>
              </a:ext>
            </a:extLst>
          </p:cNvPr>
          <p:cNvSpPr/>
          <p:nvPr/>
        </p:nvSpPr>
        <p:spPr>
          <a:xfrm>
            <a:off x="3645361" y="2960728"/>
            <a:ext cx="512946" cy="72008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C1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3FE21AD-E671-4409-9673-9C0A709E5596}"/>
              </a:ext>
            </a:extLst>
          </p:cNvPr>
          <p:cNvCxnSpPr>
            <a:cxnSpLocks/>
          </p:cNvCxnSpPr>
          <p:nvPr/>
        </p:nvCxnSpPr>
        <p:spPr>
          <a:xfrm>
            <a:off x="2567608" y="2421979"/>
            <a:ext cx="0" cy="539496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ustomShape 2">
            <a:extLst>
              <a:ext uri="{FF2B5EF4-FFF2-40B4-BE49-F238E27FC236}">
                <a16:creationId xmlns:a16="http://schemas.microsoft.com/office/drawing/2014/main" id="{74A1EC9B-3517-45B5-AC31-4175C57BE63C}"/>
              </a:ext>
            </a:extLst>
          </p:cNvPr>
          <p:cNvSpPr/>
          <p:nvPr/>
        </p:nvSpPr>
        <p:spPr>
          <a:xfrm>
            <a:off x="1875709" y="1985291"/>
            <a:ext cx="1512167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N</a:t>
            </a:r>
            <a:r>
              <a:rPr lang="en-US" spc="-1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2</a:t>
            </a: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O</a:t>
            </a:r>
          </a:p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(fossil or green)</a:t>
            </a:r>
            <a:endParaRPr lang="en-US" spc="-1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418642FE-6691-47F6-BFF1-A919644BFE23}"/>
              </a:ext>
            </a:extLst>
          </p:cNvPr>
          <p:cNvCxnSpPr>
            <a:cxnSpLocks/>
          </p:cNvCxnSpPr>
          <p:nvPr/>
        </p:nvCxnSpPr>
        <p:spPr>
          <a:xfrm flipV="1">
            <a:off x="3890110" y="2420888"/>
            <a:ext cx="0" cy="539840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CustomShape 2">
            <a:extLst>
              <a:ext uri="{FF2B5EF4-FFF2-40B4-BE49-F238E27FC236}">
                <a16:creationId xmlns:a16="http://schemas.microsoft.com/office/drawing/2014/main" id="{2D8862CB-0201-45E8-B571-AAF83FADD597}"/>
              </a:ext>
            </a:extLst>
          </p:cNvPr>
          <p:cNvSpPr/>
          <p:nvPr/>
        </p:nvSpPr>
        <p:spPr>
          <a:xfrm>
            <a:off x="3375699" y="1854935"/>
            <a:ext cx="1028823" cy="105891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N</a:t>
            </a:r>
            <a:r>
              <a:rPr lang="en-US" spc="-1" baseline="-25000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2</a:t>
            </a:r>
          </a:p>
          <a:p>
            <a:pPr algn="ctr">
              <a:lnSpc>
                <a:spcPct val="90000"/>
              </a:lnSpc>
            </a:pPr>
            <a:endParaRPr lang="en-US" spc="-1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4B61EFB-8D2F-4F53-A7B2-1A09161E9ED7}"/>
              </a:ext>
            </a:extLst>
          </p:cNvPr>
          <p:cNvSpPr/>
          <p:nvPr/>
        </p:nvSpPr>
        <p:spPr>
          <a:xfrm>
            <a:off x="4534177" y="2960728"/>
            <a:ext cx="512946" cy="72008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C2</a:t>
            </a:r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EFAAE9E7-8D43-47FC-8131-C99D35F1FB4B}"/>
              </a:ext>
            </a:extLst>
          </p:cNvPr>
          <p:cNvCxnSpPr>
            <a:cxnSpLocks/>
            <a:stCxn id="66" idx="2"/>
            <a:endCxn id="17" idx="1"/>
          </p:cNvCxnSpPr>
          <p:nvPr/>
        </p:nvCxnSpPr>
        <p:spPr>
          <a:xfrm rot="5400000" flipH="1" flipV="1">
            <a:off x="4037985" y="3184616"/>
            <a:ext cx="360040" cy="632343"/>
          </a:xfrm>
          <a:prstGeom prst="bentConnector4">
            <a:avLst>
              <a:gd name="adj1" fmla="val -63493"/>
              <a:gd name="adj2" fmla="val 70280"/>
            </a:avLst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F359CF5-9CC9-4911-AAB7-6D7624F19652}"/>
              </a:ext>
            </a:extLst>
          </p:cNvPr>
          <p:cNvCxnSpPr>
            <a:cxnSpLocks/>
          </p:cNvCxnSpPr>
          <p:nvPr/>
        </p:nvCxnSpPr>
        <p:spPr>
          <a:xfrm flipV="1">
            <a:off x="4782564" y="2420888"/>
            <a:ext cx="0" cy="539840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978D96C-F388-4CCB-A03F-F4C8E24ECF77}"/>
              </a:ext>
            </a:extLst>
          </p:cNvPr>
          <p:cNvCxnSpPr>
            <a:cxnSpLocks/>
          </p:cNvCxnSpPr>
          <p:nvPr/>
        </p:nvCxnSpPr>
        <p:spPr>
          <a:xfrm>
            <a:off x="4796172" y="3680808"/>
            <a:ext cx="0" cy="558246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ustomShape 2">
            <a:extLst>
              <a:ext uri="{FF2B5EF4-FFF2-40B4-BE49-F238E27FC236}">
                <a16:creationId xmlns:a16="http://schemas.microsoft.com/office/drawing/2014/main" id="{88428EA2-779B-4375-8C3E-4732BE6EF273}"/>
              </a:ext>
            </a:extLst>
          </p:cNvPr>
          <p:cNvSpPr/>
          <p:nvPr/>
        </p:nvSpPr>
        <p:spPr>
          <a:xfrm>
            <a:off x="4373454" y="1761431"/>
            <a:ext cx="1028823" cy="105891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Benzene to recycle</a:t>
            </a:r>
          </a:p>
          <a:p>
            <a:pPr>
              <a:lnSpc>
                <a:spcPct val="90000"/>
              </a:lnSpc>
            </a:pPr>
            <a:endParaRPr lang="en-US" spc="-1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" name="CustomShape 2">
            <a:extLst>
              <a:ext uri="{FF2B5EF4-FFF2-40B4-BE49-F238E27FC236}">
                <a16:creationId xmlns:a16="http://schemas.microsoft.com/office/drawing/2014/main" id="{79BFA0F7-E7F5-48F6-805D-FD40AFA14366}"/>
              </a:ext>
            </a:extLst>
          </p:cNvPr>
          <p:cNvSpPr/>
          <p:nvPr/>
        </p:nvSpPr>
        <p:spPr>
          <a:xfrm>
            <a:off x="4286728" y="3940808"/>
            <a:ext cx="1028823" cy="105891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Phenol</a:t>
            </a:r>
          </a:p>
          <a:p>
            <a:pPr algn="ctr">
              <a:lnSpc>
                <a:spcPct val="90000"/>
              </a:lnSpc>
            </a:pPr>
            <a:endParaRPr lang="en-US" spc="-1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7AD4B4-CCF5-4692-A6F6-51183BCC0995}"/>
              </a:ext>
            </a:extLst>
          </p:cNvPr>
          <p:cNvSpPr txBox="1"/>
          <p:nvPr/>
        </p:nvSpPr>
        <p:spPr>
          <a:xfrm>
            <a:off x="611563" y="4690872"/>
            <a:ext cx="2743059" cy="523220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Unit processes</a:t>
            </a:r>
          </a:p>
          <a:p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C1 and C2 – distillation columns</a:t>
            </a:r>
          </a:p>
        </p:txBody>
      </p:sp>
    </p:spTree>
    <p:extLst>
      <p:ext uri="{BB962C8B-B14F-4D97-AF65-F5344CB8AC3E}">
        <p14:creationId xmlns:p14="http://schemas.microsoft.com/office/powerpoint/2010/main" val="2087162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E7A31FA7-2E85-4E92-BAE5-FA1EF248708E}"/>
              </a:ext>
            </a:extLst>
          </p:cNvPr>
          <p:cNvGrpSpPr/>
          <p:nvPr/>
        </p:nvGrpSpPr>
        <p:grpSpPr>
          <a:xfrm>
            <a:off x="1446809" y="1574965"/>
            <a:ext cx="3857103" cy="3430421"/>
            <a:chOff x="1446809" y="1574965"/>
            <a:chExt cx="3857103" cy="3430421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BC98793-B5DC-4495-BCAF-F8E2AF2CD4A7}"/>
                </a:ext>
              </a:extLst>
            </p:cNvPr>
            <p:cNvCxnSpPr>
              <a:cxnSpLocks/>
            </p:cNvCxnSpPr>
            <p:nvPr/>
          </p:nvCxnSpPr>
          <p:spPr>
            <a:xfrm>
              <a:off x="1446809" y="3319266"/>
              <a:ext cx="360041" cy="0"/>
            </a:xfrm>
            <a:prstGeom prst="straightConnector1">
              <a:avLst/>
            </a:prstGeom>
            <a:ln>
              <a:solidFill>
                <a:schemeClr val="tx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D62AB068-D7D6-4B31-B751-CD294AB62352}"/>
                </a:ext>
              </a:extLst>
            </p:cNvPr>
            <p:cNvSpPr/>
            <p:nvPr/>
          </p:nvSpPr>
          <p:spPr>
            <a:xfrm>
              <a:off x="1806850" y="2960728"/>
              <a:ext cx="1512168" cy="720080"/>
            </a:xfrm>
            <a:prstGeom prst="roundRect">
              <a:avLst/>
            </a:prstGeom>
            <a:solidFill>
              <a:schemeClr val="tx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</a:rPr>
                <a:t>Direct benzene oxidation</a:t>
              </a:r>
            </a:p>
          </p:txBody>
        </p:sp>
        <p:sp>
          <p:nvSpPr>
            <p:cNvPr id="47" name="CustomShape 2">
              <a:extLst>
                <a:ext uri="{FF2B5EF4-FFF2-40B4-BE49-F238E27FC236}">
                  <a16:creationId xmlns:a16="http://schemas.microsoft.com/office/drawing/2014/main" id="{31466969-43FF-47A0-9952-34203EE55E59}"/>
                </a:ext>
              </a:extLst>
            </p:cNvPr>
            <p:cNvSpPr/>
            <p:nvPr/>
          </p:nvSpPr>
          <p:spPr>
            <a:xfrm>
              <a:off x="1865240" y="3673533"/>
              <a:ext cx="1440161" cy="43788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spc="-1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60 </a:t>
              </a:r>
              <a:r>
                <a:rPr lang="en-US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</a:rPr>
                <a:t>°</a:t>
              </a:r>
              <a:r>
                <a:rPr lang="en-US" spc="-1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C, 1 bar</a:t>
              </a: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33F3F5C7-8036-4B9A-913A-011EC9A042AE}"/>
                </a:ext>
              </a:extLst>
            </p:cNvPr>
            <p:cNvCxnSpPr>
              <a:cxnSpLocks/>
              <a:stCxn id="39" idx="3"/>
              <a:endCxn id="66" idx="1"/>
            </p:cNvCxnSpPr>
            <p:nvPr/>
          </p:nvCxnSpPr>
          <p:spPr>
            <a:xfrm>
              <a:off x="3319018" y="3320768"/>
              <a:ext cx="326342" cy="0"/>
            </a:xfrm>
            <a:prstGeom prst="straightConnector1">
              <a:avLst/>
            </a:prstGeom>
            <a:ln>
              <a:solidFill>
                <a:schemeClr val="tx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2F2AE57A-3D3D-4BBF-A4B8-E3702F4A3510}"/>
                </a:ext>
              </a:extLst>
            </p:cNvPr>
            <p:cNvSpPr/>
            <p:nvPr/>
          </p:nvSpPr>
          <p:spPr>
            <a:xfrm>
              <a:off x="3645360" y="2960728"/>
              <a:ext cx="548711" cy="720080"/>
            </a:xfrm>
            <a:prstGeom prst="roundRect">
              <a:avLst/>
            </a:prstGeom>
            <a:solidFill>
              <a:schemeClr val="tx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</a:rPr>
                <a:t>C1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3FE21AD-E671-4409-9673-9C0A709E5596}"/>
                </a:ext>
              </a:extLst>
            </p:cNvPr>
            <p:cNvCxnSpPr>
              <a:cxnSpLocks/>
            </p:cNvCxnSpPr>
            <p:nvPr/>
          </p:nvCxnSpPr>
          <p:spPr>
            <a:xfrm>
              <a:off x="2565548" y="2410728"/>
              <a:ext cx="0" cy="539496"/>
            </a:xfrm>
            <a:prstGeom prst="straightConnector1">
              <a:avLst/>
            </a:prstGeom>
            <a:ln>
              <a:solidFill>
                <a:schemeClr val="tx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CustomShape 2">
              <a:extLst>
                <a:ext uri="{FF2B5EF4-FFF2-40B4-BE49-F238E27FC236}">
                  <a16:creationId xmlns:a16="http://schemas.microsoft.com/office/drawing/2014/main" id="{74A1EC9B-3517-45B5-AC31-4175C57BE63C}"/>
                </a:ext>
              </a:extLst>
            </p:cNvPr>
            <p:cNvSpPr/>
            <p:nvPr/>
          </p:nvSpPr>
          <p:spPr>
            <a:xfrm>
              <a:off x="1888579" y="1944183"/>
              <a:ext cx="1512167" cy="43788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US" spc="-1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H</a:t>
              </a:r>
              <a:r>
                <a:rPr lang="en-US" spc="-1" baseline="-25000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2</a:t>
              </a:r>
              <a:r>
                <a:rPr lang="en-US" spc="-1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O</a:t>
              </a:r>
              <a:r>
                <a:rPr lang="en-US" spc="-1" baseline="-25000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2</a:t>
              </a:r>
            </a:p>
            <a:p>
              <a:pPr>
                <a:lnSpc>
                  <a:spcPct val="90000"/>
                </a:lnSpc>
              </a:pPr>
              <a:r>
                <a:rPr lang="en-US" spc="-1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(fossil or green)</a:t>
              </a:r>
              <a:endPara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</a:endParaRPr>
            </a:p>
          </p:txBody>
        </p: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418642FE-6691-47F6-BFF1-A919644BFE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92378" y="2420888"/>
              <a:ext cx="0" cy="539840"/>
            </a:xfrm>
            <a:prstGeom prst="straightConnector1">
              <a:avLst/>
            </a:prstGeom>
            <a:ln>
              <a:solidFill>
                <a:schemeClr val="tx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CustomShape 2">
              <a:extLst>
                <a:ext uri="{FF2B5EF4-FFF2-40B4-BE49-F238E27FC236}">
                  <a16:creationId xmlns:a16="http://schemas.microsoft.com/office/drawing/2014/main" id="{2D8862CB-0201-45E8-B571-AAF83FADD597}"/>
                </a:ext>
              </a:extLst>
            </p:cNvPr>
            <p:cNvSpPr/>
            <p:nvPr/>
          </p:nvSpPr>
          <p:spPr>
            <a:xfrm>
              <a:off x="3592101" y="1574965"/>
              <a:ext cx="1545681" cy="1058915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US" spc="-1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H</a:t>
              </a:r>
              <a:r>
                <a:rPr lang="en-US" spc="-1" baseline="-25000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2</a:t>
              </a:r>
              <a:r>
                <a:rPr lang="en-US" spc="-1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O</a:t>
              </a:r>
              <a:r>
                <a:rPr lang="en-US" spc="-1" baseline="-25000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2</a:t>
              </a:r>
            </a:p>
            <a:p>
              <a:pPr>
                <a:lnSpc>
                  <a:spcPct val="90000"/>
                </a:lnSpc>
              </a:pPr>
              <a:r>
                <a:rPr lang="en-US" spc="-1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Benzene</a:t>
              </a:r>
            </a:p>
            <a:p>
              <a:pPr>
                <a:lnSpc>
                  <a:spcPct val="90000"/>
                </a:lnSpc>
              </a:pPr>
              <a:r>
                <a:rPr lang="en-US" spc="-1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Water</a:t>
              </a:r>
              <a:endPara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A4B61EFB-8D2F-4F53-A7B2-1A09161E9ED7}"/>
                </a:ext>
              </a:extLst>
            </p:cNvPr>
            <p:cNvSpPr/>
            <p:nvPr/>
          </p:nvSpPr>
          <p:spPr>
            <a:xfrm>
              <a:off x="4534176" y="2960728"/>
              <a:ext cx="548711" cy="720080"/>
            </a:xfrm>
            <a:prstGeom prst="roundRect">
              <a:avLst/>
            </a:prstGeom>
            <a:solidFill>
              <a:schemeClr val="tx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</a:rPr>
                <a:t>C2</a:t>
              </a:r>
            </a:p>
          </p:txBody>
        </p:sp>
        <p:cxnSp>
          <p:nvCxnSpPr>
            <p:cNvPr id="4" name="Connector: Elbow 3">
              <a:extLst>
                <a:ext uri="{FF2B5EF4-FFF2-40B4-BE49-F238E27FC236}">
                  <a16:creationId xmlns:a16="http://schemas.microsoft.com/office/drawing/2014/main" id="{EFAAE9E7-8D43-47FC-8131-C99D35F1FB4B}"/>
                </a:ext>
              </a:extLst>
            </p:cNvPr>
            <p:cNvCxnSpPr>
              <a:cxnSpLocks/>
              <a:stCxn id="66" idx="2"/>
              <a:endCxn id="17" idx="1"/>
            </p:cNvCxnSpPr>
            <p:nvPr/>
          </p:nvCxnSpPr>
          <p:spPr>
            <a:xfrm rot="5400000" flipH="1" flipV="1">
              <a:off x="4046926" y="3193558"/>
              <a:ext cx="360040" cy="614460"/>
            </a:xfrm>
            <a:prstGeom prst="bentConnector4">
              <a:avLst>
                <a:gd name="adj1" fmla="val -63493"/>
                <a:gd name="adj2" fmla="val 72325"/>
              </a:avLst>
            </a:prstGeom>
            <a:ln>
              <a:solidFill>
                <a:schemeClr val="tx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F359CF5-9CC9-4911-AAB7-6D7624F19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81050" y="2420888"/>
              <a:ext cx="0" cy="539840"/>
            </a:xfrm>
            <a:prstGeom prst="straightConnector1">
              <a:avLst/>
            </a:prstGeom>
            <a:ln>
              <a:solidFill>
                <a:schemeClr val="tx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E978D96C-F388-4CCB-A03F-F4C8E24ECF77}"/>
                </a:ext>
              </a:extLst>
            </p:cNvPr>
            <p:cNvCxnSpPr>
              <a:cxnSpLocks/>
            </p:cNvCxnSpPr>
            <p:nvPr/>
          </p:nvCxnSpPr>
          <p:spPr>
            <a:xfrm>
              <a:off x="4781257" y="3680808"/>
              <a:ext cx="0" cy="558246"/>
            </a:xfrm>
            <a:prstGeom prst="straightConnector1">
              <a:avLst/>
            </a:prstGeom>
            <a:ln>
              <a:solidFill>
                <a:schemeClr val="tx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CustomShape 2">
              <a:extLst>
                <a:ext uri="{FF2B5EF4-FFF2-40B4-BE49-F238E27FC236}">
                  <a16:creationId xmlns:a16="http://schemas.microsoft.com/office/drawing/2014/main" id="{88428EA2-779B-4375-8C3E-4732BE6EF273}"/>
                </a:ext>
              </a:extLst>
            </p:cNvPr>
            <p:cNvSpPr/>
            <p:nvPr/>
          </p:nvSpPr>
          <p:spPr>
            <a:xfrm>
              <a:off x="4275089" y="1852614"/>
              <a:ext cx="1028823" cy="1058915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spc="-1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Quinone</a:t>
              </a:r>
            </a:p>
            <a:p>
              <a:pPr algn="ctr">
                <a:lnSpc>
                  <a:spcPct val="90000"/>
                </a:lnSpc>
              </a:pPr>
              <a:endPara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26" name="CustomShape 2">
              <a:extLst>
                <a:ext uri="{FF2B5EF4-FFF2-40B4-BE49-F238E27FC236}">
                  <a16:creationId xmlns:a16="http://schemas.microsoft.com/office/drawing/2014/main" id="{79BFA0F7-E7F5-48F6-805D-FD40AFA14366}"/>
                </a:ext>
              </a:extLst>
            </p:cNvPr>
            <p:cNvSpPr/>
            <p:nvPr/>
          </p:nvSpPr>
          <p:spPr>
            <a:xfrm>
              <a:off x="4266638" y="3946471"/>
              <a:ext cx="1028823" cy="1058915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spc="-1" dirty="0">
                  <a:solidFill>
                    <a:schemeClr val="tx1"/>
                  </a:solidFill>
                  <a:latin typeface="+mj-lt"/>
                  <a:ea typeface="Roboto" panose="02000000000000000000" pitchFamily="2" charset="0"/>
                  <a:cs typeface="Arial" panose="020B0604020202020204" pitchFamily="34" charset="0"/>
                  <a:sym typeface="Wingdings" pitchFamily="2" charset="2"/>
                </a:rPr>
                <a:t>Phenol</a:t>
              </a:r>
            </a:p>
            <a:p>
              <a:pPr algn="ctr">
                <a:lnSpc>
                  <a:spcPct val="90000"/>
                </a:lnSpc>
              </a:pPr>
              <a:endPara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</a:endParaRPr>
            </a:p>
          </p:txBody>
        </p:sp>
      </p:grpSp>
      <p:sp>
        <p:nvSpPr>
          <p:cNvPr id="22" name="CustomShape 2">
            <a:extLst>
              <a:ext uri="{FF2B5EF4-FFF2-40B4-BE49-F238E27FC236}">
                <a16:creationId xmlns:a16="http://schemas.microsoft.com/office/drawing/2014/main" id="{03E3EABD-A9F0-461E-8675-0B9FD5F2F6D1}"/>
              </a:ext>
            </a:extLst>
          </p:cNvPr>
          <p:cNvSpPr/>
          <p:nvPr/>
        </p:nvSpPr>
        <p:spPr>
          <a:xfrm>
            <a:off x="611563" y="3100846"/>
            <a:ext cx="922148" cy="4378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pc="-1" dirty="0">
                <a:solidFill>
                  <a:schemeClr val="tx1"/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  <a:sym typeface="Wingdings" pitchFamily="2" charset="2"/>
              </a:rPr>
              <a:t>Benzene</a:t>
            </a:r>
            <a:endParaRPr lang="en-US" spc="-1" dirty="0">
              <a:solidFill>
                <a:schemeClr val="tx1"/>
              </a:solidFill>
              <a:latin typeface="+mj-lt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9E7A16-DF1A-4A98-8F19-E7DD05688523}"/>
              </a:ext>
            </a:extLst>
          </p:cNvPr>
          <p:cNvSpPr txBox="1"/>
          <p:nvPr/>
        </p:nvSpPr>
        <p:spPr>
          <a:xfrm>
            <a:off x="611563" y="4690872"/>
            <a:ext cx="2743059" cy="523220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Unit processes</a:t>
            </a:r>
          </a:p>
          <a:p>
            <a:r>
              <a:rPr lang="en-GB" dirty="0">
                <a:solidFill>
                  <a:schemeClr val="tx1"/>
                </a:solidFill>
                <a:latin typeface="+mj-lt"/>
                <a:ea typeface="Roboto" panose="02000000000000000000" pitchFamily="2" charset="0"/>
              </a:rPr>
              <a:t>C1 and C2 – distillation columns</a:t>
            </a:r>
          </a:p>
        </p:txBody>
      </p:sp>
    </p:spTree>
    <p:extLst>
      <p:ext uri="{BB962C8B-B14F-4D97-AF65-F5344CB8AC3E}">
        <p14:creationId xmlns:p14="http://schemas.microsoft.com/office/powerpoint/2010/main" val="1941572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C8415E"/>
      </a:accent1>
      <a:accent2>
        <a:srgbClr val="FAB35E"/>
      </a:accent2>
      <a:accent3>
        <a:srgbClr val="1DAACC"/>
      </a:accent3>
      <a:accent4>
        <a:srgbClr val="EC8345"/>
      </a:accent4>
      <a:accent5>
        <a:srgbClr val="A6287F"/>
      </a:accent5>
      <a:accent6>
        <a:srgbClr val="6D41BD"/>
      </a:accent6>
      <a:hlink>
        <a:srgbClr val="1D63CC"/>
      </a:hlink>
      <a:folHlink>
        <a:srgbClr val="19C8B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216</Words>
  <Application>Microsoft Office PowerPoint</Application>
  <DocSecurity>0</DocSecurity>
  <PresentationFormat>Widescreen</PresentationFormat>
  <Paragraphs>85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Wingdings</vt:lpstr>
      <vt:lpstr>Fira Sans</vt:lpstr>
      <vt:lpstr>Arial</vt:lpstr>
      <vt:lpstr>Calibri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Marie Francine Lagadec</dc:creator>
  <cp:keywords/>
  <dc:description/>
  <cp:lastModifiedBy>Nabera  Abhinandan</cp:lastModifiedBy>
  <cp:revision>1624</cp:revision>
  <cp:lastPrinted>2023-12-14T11:24:36Z</cp:lastPrinted>
  <dcterms:created xsi:type="dcterms:W3CDTF">2020-10-28T13:25:21Z</dcterms:created>
  <dcterms:modified xsi:type="dcterms:W3CDTF">2025-06-29T18:35:21Z</dcterms:modified>
  <cp:category/>
  <dc:identifier/>
  <cp:contentStatus/>
  <dc:language/>
  <cp:version/>
</cp:coreProperties>
</file>