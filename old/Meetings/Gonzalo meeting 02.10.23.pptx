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4" r:id="rId9"/>
    <p:sldId id="265" r:id="rId10"/>
    <p:sldId id="266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993" autoAdjust="0"/>
    <p:restoredTop sz="94660"/>
  </p:normalViewPr>
  <p:slideViewPr>
    <p:cSldViewPr snapToGrid="0">
      <p:cViewPr varScale="1">
        <p:scale>
          <a:sx n="143" d="100"/>
          <a:sy n="143" d="100"/>
        </p:scale>
        <p:origin x="120" y="5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anabera\Desktop\Side%20projects\Nitrous%20oxide%20production\Economics%20overall.xlsx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anabera\Desktop\Side%20projects\Nitrous%20oxide%20production\Economics%20overall.xlsx" TargetMode="External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anabera\Desktop\Side%20projects\Nitrous%20oxide%20production\Economics%20overall.xlsx" TargetMode="External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anabera\Desktop\Side%20projects\Nitrous%20oxide%20production\Economics%20overall.xlsx" TargetMode="External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pieChart>
        <c:varyColors val="1"/>
        <c:ser>
          <c:idx val="0"/>
          <c:order val="0"/>
          <c:tx>
            <c:strRef>
              <c:f>'BAU process'!$B$2</c:f>
              <c:strCache>
                <c:ptCount val="1"/>
                <c:pt idx="0">
                  <c:v>USD2019 kg-1 N2O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D4F5-42F0-AEFC-511DCB9F36D1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D4F5-42F0-AEFC-511DCB9F36D1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D4F5-42F0-AEFC-511DCB9F36D1}"/>
              </c:ext>
            </c:extLst>
          </c:dPt>
          <c:dPt>
            <c:idx val="3"/>
            <c:bubble3D val="0"/>
            <c:spPr>
              <a:solidFill>
                <a:schemeClr val="accent4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7-D4F5-42F0-AEFC-511DCB9F36D1}"/>
              </c:ext>
            </c:extLst>
          </c:dPt>
          <c:dPt>
            <c:idx val="4"/>
            <c:bubble3D val="0"/>
            <c:spPr>
              <a:solidFill>
                <a:schemeClr val="accent5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9-D4F5-42F0-AEFC-511DCB9F36D1}"/>
              </c:ext>
            </c:extLst>
          </c:dPt>
          <c:cat>
            <c:strRef>
              <c:f>'BAU process'!$A$3:$A$7</c:f>
              <c:strCache>
                <c:ptCount val="5"/>
                <c:pt idx="0">
                  <c:v>Oxygen</c:v>
                </c:pt>
                <c:pt idx="1">
                  <c:v>Ammonia</c:v>
                </c:pt>
                <c:pt idx="2">
                  <c:v>Electricity</c:v>
                </c:pt>
                <c:pt idx="3">
                  <c:v>Cooling water</c:v>
                </c:pt>
                <c:pt idx="4">
                  <c:v>CAPEX</c:v>
                </c:pt>
              </c:strCache>
            </c:strRef>
          </c:cat>
          <c:val>
            <c:numRef>
              <c:f>'BAU process'!$B$3:$B$7</c:f>
              <c:numCache>
                <c:formatCode>0.000</c:formatCode>
                <c:ptCount val="5"/>
                <c:pt idx="0">
                  <c:v>0.18337303998393706</c:v>
                </c:pt>
                <c:pt idx="1">
                  <c:v>0.31637651422612828</c:v>
                </c:pt>
                <c:pt idx="2">
                  <c:v>3.4949771503094873E-3</c:v>
                </c:pt>
                <c:pt idx="3">
                  <c:v>2.9188126024716054E-3</c:v>
                </c:pt>
                <c:pt idx="4">
                  <c:v>4.6732691632877806E-2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D4F5-42F0-AEFC-511DCB9F36D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pieChart>
        <c:varyColors val="1"/>
        <c:ser>
          <c:idx val="0"/>
          <c:order val="0"/>
          <c:dPt>
            <c:idx val="0"/>
            <c:bubble3D val="0"/>
            <c:spPr>
              <a:solidFill>
                <a:schemeClr val="accent1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8BF1-42E3-9080-E3EE096704F5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8BF1-42E3-9080-E3EE096704F5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8BF1-42E3-9080-E3EE096704F5}"/>
              </c:ext>
            </c:extLst>
          </c:dPt>
          <c:dPt>
            <c:idx val="3"/>
            <c:bubble3D val="0"/>
            <c:spPr>
              <a:solidFill>
                <a:schemeClr val="accent4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7-8BF1-42E3-9080-E3EE096704F5}"/>
              </c:ext>
            </c:extLst>
          </c:dPt>
          <c:dPt>
            <c:idx val="4"/>
            <c:bubble3D val="0"/>
            <c:spPr>
              <a:solidFill>
                <a:schemeClr val="accent5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9-8BF1-42E3-9080-E3EE096704F5}"/>
              </c:ext>
            </c:extLst>
          </c:dPt>
          <c:cat>
            <c:strRef>
              <c:f>'BAU process'!$E$3:$E$7</c:f>
              <c:strCache>
                <c:ptCount val="5"/>
                <c:pt idx="0">
                  <c:v>Oxygen</c:v>
                </c:pt>
                <c:pt idx="1">
                  <c:v>Ammonia</c:v>
                </c:pt>
                <c:pt idx="2">
                  <c:v>Electricity</c:v>
                </c:pt>
                <c:pt idx="3">
                  <c:v>Cooling water</c:v>
                </c:pt>
                <c:pt idx="4">
                  <c:v>CAPEX</c:v>
                </c:pt>
              </c:strCache>
            </c:strRef>
          </c:cat>
          <c:val>
            <c:numRef>
              <c:f>'BAU process'!$F$3:$F$7</c:f>
              <c:numCache>
                <c:formatCode>0.000</c:formatCode>
                <c:ptCount val="5"/>
                <c:pt idx="0">
                  <c:v>0</c:v>
                </c:pt>
                <c:pt idx="1">
                  <c:v>1.1337977310510667</c:v>
                </c:pt>
                <c:pt idx="2">
                  <c:v>3.4949771503094873E-3</c:v>
                </c:pt>
                <c:pt idx="3">
                  <c:v>2.9188126024716054E-3</c:v>
                </c:pt>
                <c:pt idx="4">
                  <c:v>4.6732691632877806E-2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8BF1-42E3-9080-E3EE096704F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pieChart>
        <c:varyColors val="1"/>
        <c:ser>
          <c:idx val="0"/>
          <c:order val="0"/>
          <c:dPt>
            <c:idx val="0"/>
            <c:bubble3D val="0"/>
            <c:spPr>
              <a:solidFill>
                <a:schemeClr val="accent1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080A-4E8B-A963-5829627390F2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080A-4E8B-A963-5829627390F2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080A-4E8B-A963-5829627390F2}"/>
              </c:ext>
            </c:extLst>
          </c:dPt>
          <c:dPt>
            <c:idx val="3"/>
            <c:bubble3D val="0"/>
            <c:spPr>
              <a:solidFill>
                <a:schemeClr val="accent4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7-080A-4E8B-A963-5829627390F2}"/>
              </c:ext>
            </c:extLst>
          </c:dPt>
          <c:dPt>
            <c:idx val="4"/>
            <c:bubble3D val="0"/>
            <c:spPr>
              <a:solidFill>
                <a:schemeClr val="accent5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9-080A-4E8B-A963-5829627390F2}"/>
              </c:ext>
            </c:extLst>
          </c:dPt>
          <c:cat>
            <c:strRef>
              <c:f>'BAU process'!$A$12:$A$16</c:f>
              <c:strCache>
                <c:ptCount val="5"/>
                <c:pt idx="0">
                  <c:v>Oxygen</c:v>
                </c:pt>
                <c:pt idx="1">
                  <c:v>Ammonia</c:v>
                </c:pt>
                <c:pt idx="2">
                  <c:v>Electricity</c:v>
                </c:pt>
                <c:pt idx="3">
                  <c:v>Cooling water</c:v>
                </c:pt>
                <c:pt idx="4">
                  <c:v>CAPEX</c:v>
                </c:pt>
              </c:strCache>
            </c:strRef>
          </c:cat>
          <c:val>
            <c:numRef>
              <c:f>'BAU process'!$B$12:$B$16</c:f>
              <c:numCache>
                <c:formatCode>0.000</c:formatCode>
                <c:ptCount val="5"/>
                <c:pt idx="0">
                  <c:v>0.18883503330420195</c:v>
                </c:pt>
                <c:pt idx="1">
                  <c:v>0.32837551655794422</c:v>
                </c:pt>
                <c:pt idx="2">
                  <c:v>3.4341143141014639E-3</c:v>
                </c:pt>
                <c:pt idx="3">
                  <c:v>2.9445093499592375E-3</c:v>
                </c:pt>
                <c:pt idx="4">
                  <c:v>4.8238466204974115E-2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080A-4E8B-A963-5829627390F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pieChart>
        <c:varyColors val="1"/>
        <c:ser>
          <c:idx val="0"/>
          <c:order val="0"/>
          <c:dPt>
            <c:idx val="0"/>
            <c:bubble3D val="0"/>
            <c:spPr>
              <a:solidFill>
                <a:schemeClr val="accent1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ADE3-4891-89AF-B95E95D793DB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ADE3-4891-89AF-B95E95D793DB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ADE3-4891-89AF-B95E95D793DB}"/>
              </c:ext>
            </c:extLst>
          </c:dPt>
          <c:dPt>
            <c:idx val="3"/>
            <c:bubble3D val="0"/>
            <c:spPr>
              <a:solidFill>
                <a:schemeClr val="accent4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7-ADE3-4891-89AF-B95E95D793DB}"/>
              </c:ext>
            </c:extLst>
          </c:dPt>
          <c:dPt>
            <c:idx val="4"/>
            <c:bubble3D val="0"/>
            <c:spPr>
              <a:solidFill>
                <a:schemeClr val="accent5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9-ADE3-4891-89AF-B95E95D793DB}"/>
              </c:ext>
            </c:extLst>
          </c:dPt>
          <c:cat>
            <c:strRef>
              <c:f>'BAU process'!$E$12:$E$16</c:f>
              <c:strCache>
                <c:ptCount val="5"/>
                <c:pt idx="0">
                  <c:v>Oxygen</c:v>
                </c:pt>
                <c:pt idx="1">
                  <c:v>Ammonia</c:v>
                </c:pt>
                <c:pt idx="2">
                  <c:v>Electricity</c:v>
                </c:pt>
                <c:pt idx="3">
                  <c:v>Cooling water</c:v>
                </c:pt>
                <c:pt idx="4">
                  <c:v>CAPEX</c:v>
                </c:pt>
              </c:strCache>
            </c:strRef>
          </c:cat>
          <c:val>
            <c:numRef>
              <c:f>'BAU process'!$F$12:$F$16</c:f>
              <c:numCache>
                <c:formatCode>0.000</c:formatCode>
                <c:ptCount val="5"/>
                <c:pt idx="0">
                  <c:v>0</c:v>
                </c:pt>
                <c:pt idx="1">
                  <c:v>1.1767985260119898</c:v>
                </c:pt>
                <c:pt idx="2">
                  <c:v>3.4341143141014639E-3</c:v>
                </c:pt>
                <c:pt idx="3">
                  <c:v>2.9445093499592375E-3</c:v>
                </c:pt>
                <c:pt idx="4">
                  <c:v>4.8238466204974115E-2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ADE3-4891-89AF-B95E95D793D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05B04F-4AC2-4B9F-80F8-75B5ECE6BD5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5258E5C-4797-44BA-8CC8-DFCE6BAAB8E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97CBAF9-2079-4B12-82C9-6F0FDADFD8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E0F5EB-BA2A-4C2D-B4B8-E9010E90696D}" type="datetimeFigureOut">
              <a:rPr lang="en-GB" smtClean="0"/>
              <a:t>02/10/2023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88D4DC-244D-4689-9B7E-9DD3B75599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1D74B0-647A-478B-B5BD-F3CC0C7C66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47AE15-30FB-44D4-9F87-2353DF6DE97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922573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34B156-668E-43E1-9410-999888F41C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D8F794-2EAC-478E-A8FC-579F2CA881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773F8F0-CC94-4001-9A81-D0E9103E57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E0F5EB-BA2A-4C2D-B4B8-E9010E90696D}" type="datetimeFigureOut">
              <a:rPr lang="en-GB" smtClean="0"/>
              <a:t>02/10/2023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87856FE-3254-4CD0-B466-BD034C9C91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EE91EA-51CE-4C7E-B22D-E67C7EFB49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47AE15-30FB-44D4-9F87-2353DF6DE97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604824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35B69F-7953-4F05-96D4-4248C2FE7F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CFCEB17-FA80-4EA0-A948-3CC8AEEE8CD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04E0D9A-0FB3-43BF-8856-1FE3687D06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E0F5EB-BA2A-4C2D-B4B8-E9010E90696D}" type="datetimeFigureOut">
              <a:rPr lang="en-GB" smtClean="0"/>
              <a:t>02/10/2023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AC6B59D-F113-4550-9355-180449BCF5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B02E85-E7EA-48F9-82A9-B743F8946A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47AE15-30FB-44D4-9F87-2353DF6DE97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070491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F83243-D987-4E99-A4F4-A3D7163FC1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0E7E68-371D-4888-BAAE-EC0946E9FEE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2CB5307-56E8-4A25-9588-BAD9A058BC0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D2B6F06-30BD-493E-9410-ADFBD5401F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E0F5EB-BA2A-4C2D-B4B8-E9010E90696D}" type="datetimeFigureOut">
              <a:rPr lang="en-GB" smtClean="0"/>
              <a:t>02/10/2023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41AB569-8038-4556-A728-31B2C0FA48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86781C7-4EF9-4284-8818-C576673044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47AE15-30FB-44D4-9F87-2353DF6DE97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170426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4E99EE-C81F-4B2A-966E-3278573021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D183DB4-3C88-46F4-9CDC-011143463F3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3070996-A272-4975-8A12-E6B5D1C54D3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C65246C-86B4-4205-ABDC-5AAAA41868E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6C7F5FD-9A0B-4198-87BD-2DC5F105CEA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5350531-C83F-4328-8D38-8E0230A139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E0F5EB-BA2A-4C2D-B4B8-E9010E90696D}" type="datetimeFigureOut">
              <a:rPr lang="en-GB" smtClean="0"/>
              <a:t>02/10/2023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6CF4F4A-162D-4232-913B-2FC2CBED23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B789D60-12A8-43F9-AA04-71AF8A9DE2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47AE15-30FB-44D4-9F87-2353DF6DE97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308524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F1FF80-AE11-4C8A-8684-D8A1D8C6D3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87B1DC2-DF1C-4880-82AA-C89AFE6B67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E0F5EB-BA2A-4C2D-B4B8-E9010E90696D}" type="datetimeFigureOut">
              <a:rPr lang="en-GB" smtClean="0"/>
              <a:t>02/10/2023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092DC77-2D7E-47BF-A1F0-06F14ACE4E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6E976B3-027C-4BD3-9CDD-0E4B611DE3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47AE15-30FB-44D4-9F87-2353DF6DE97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420112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6BBB3DB-3935-403F-9207-0B279A6F94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E0F5EB-BA2A-4C2D-B4B8-E9010E90696D}" type="datetimeFigureOut">
              <a:rPr lang="en-GB" smtClean="0"/>
              <a:t>02/10/2023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E6CFE64-0959-4C9E-8B11-269C5F02F9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9FAC9E8-F18A-4D7A-A430-1B701B8611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47AE15-30FB-44D4-9F87-2353DF6DE97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2026797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064AC3-7BFE-416E-A594-B6B5584691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B2F1CC-183D-43FE-BC16-0DF10692B44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250A105-2B08-4E02-80F2-BD89A3A7D52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B4A5AB8-4566-4C9D-B94E-A0CB36F424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E0F5EB-BA2A-4C2D-B4B8-E9010E90696D}" type="datetimeFigureOut">
              <a:rPr lang="en-GB" smtClean="0"/>
              <a:t>02/10/2023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C7A5091-8AF3-4D85-9071-6F35C04987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61B0B18-BBF1-401D-A3A8-4FF5DA1D0A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47AE15-30FB-44D4-9F87-2353DF6DE97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7153999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5C46DE-8C4F-472E-B9C4-B2174705F5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707407C-A883-470E-899B-5CAD6BA13DE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EE9CB86-B25A-43B4-9890-321ABB8B4F5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276F50A-3084-4474-9616-E34C856680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E0F5EB-BA2A-4C2D-B4B8-E9010E90696D}" type="datetimeFigureOut">
              <a:rPr lang="en-GB" smtClean="0"/>
              <a:t>02/10/2023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6B3837A-7CD8-454F-9730-994B546E22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4DDE46D-A5FC-48BF-B2DF-EA6DB01A2D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47AE15-30FB-44D4-9F87-2353DF6DE97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0800875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F4D217-7F5D-41F7-BEB3-8630D98322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51BD27D-9F30-43FA-BC3E-E643C1BB372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EE5D79-EBFE-4809-8EB2-995BF99634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E0F5EB-BA2A-4C2D-B4B8-E9010E90696D}" type="datetimeFigureOut">
              <a:rPr lang="en-GB" smtClean="0"/>
              <a:t>02/10/2023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E14845-A950-4842-8BF8-90B542A683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A62EBA-B291-4DD3-9631-A948A03AE5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47AE15-30FB-44D4-9F87-2353DF6DE97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5505058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BFA00C2-EA92-4879-AB5F-29F1C73C961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91C3ED8-88BA-408A-B46A-0F4FC37C57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D606BDE-9C86-48D5-AABB-AA4F063687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E0F5EB-BA2A-4C2D-B4B8-E9010E90696D}" type="datetimeFigureOut">
              <a:rPr lang="en-GB" smtClean="0"/>
              <a:t>02/10/2023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F1CC2DE-FD79-4E6B-BCDA-6A6EEA9531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8DEBF5A-1278-4018-A711-45D5EDC63C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47AE15-30FB-44D4-9F87-2353DF6DE97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117697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5FD05A7-9C50-4350-8C4F-0962C5EB16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74A956A-3E4A-484D-A0B4-C80C71B04CB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BD1FF95-FCE7-4B0F-9819-5911F4B83AB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3E0F5EB-BA2A-4C2D-B4B8-E9010E90696D}" type="datetimeFigureOut">
              <a:rPr lang="en-GB" smtClean="0"/>
              <a:t>02/10/2023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E3322C3-A27D-4C16-A088-D9D48308AEC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979EFA-BF9A-4D80-A9E2-CFA4C59309E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747AE15-30FB-44D4-9F87-2353DF6DE97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938223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chart" Target="../charts/chart3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661925-2D44-412D-BD6D-D4E701E962B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Nitrous oxide production</a:t>
            </a:r>
            <a:endParaRPr lang="en-GB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0D78F46-4CED-4EEE-A5F0-15371E5E2D1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Weekly update meeting 02.10.23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2990021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B42B9A-D450-47A5-92A6-F2A803DCC7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BAU flowsheet – best case</a:t>
            </a:r>
            <a:endParaRPr lang="en-GB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04AA4A9-B018-4DF5-9568-96B87C5C1E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3924" y="2164702"/>
            <a:ext cx="10973685" cy="31554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34109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B42B9A-D450-47A5-92A6-F2A803DCC7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Ammonia is the major contributor to the economics</a:t>
            </a:r>
            <a:endParaRPr lang="en-GB" dirty="0"/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76FED541-E9DA-41FD-B9F5-934784A0E4E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15626325"/>
              </p:ext>
            </p:extLst>
          </p:nvPr>
        </p:nvGraphicFramePr>
        <p:xfrm>
          <a:off x="1971304" y="1834684"/>
          <a:ext cx="3841669" cy="204529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095899">
                  <a:extLst>
                    <a:ext uri="{9D8B030D-6E8A-4147-A177-3AD203B41FA5}">
                      <a16:colId xmlns:a16="http://schemas.microsoft.com/office/drawing/2014/main" val="3487671435"/>
                    </a:ext>
                  </a:extLst>
                </a:gridCol>
                <a:gridCol w="1372885">
                  <a:extLst>
                    <a:ext uri="{9D8B030D-6E8A-4147-A177-3AD203B41FA5}">
                      <a16:colId xmlns:a16="http://schemas.microsoft.com/office/drawing/2014/main" val="1217486148"/>
                    </a:ext>
                  </a:extLst>
                </a:gridCol>
                <a:gridCol w="1372885">
                  <a:extLst>
                    <a:ext uri="{9D8B030D-6E8A-4147-A177-3AD203B41FA5}">
                      <a16:colId xmlns:a16="http://schemas.microsoft.com/office/drawing/2014/main" val="1588161672"/>
                    </a:ext>
                  </a:extLst>
                </a:gridCol>
              </a:tblGrid>
              <a:tr h="247914">
                <a:tc gridSpan="3">
                  <a:txBody>
                    <a:bodyPr/>
                    <a:lstStyle/>
                    <a:p>
                      <a:pPr algn="ctr" fontAlgn="b"/>
                      <a:r>
                        <a:rPr lang="en-GB" sz="1100" b="1" u="none" strike="noStrike" dirty="0">
                          <a:effectLst/>
                        </a:rPr>
                        <a:t>Fossil ammonia scenario (best)</a:t>
                      </a:r>
                      <a:endParaRPr lang="en-GB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43516114"/>
                  </a:ext>
                </a:extLst>
              </a:tr>
              <a:tr h="309892"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u="none" strike="noStrike">
                          <a:effectLst/>
                        </a:rPr>
                        <a:t>Component</a:t>
                      </a:r>
                      <a:endParaRPr lang="en-GB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u="none" strike="noStrike">
                          <a:effectLst/>
                        </a:rPr>
                        <a:t>USD</a:t>
                      </a:r>
                      <a:r>
                        <a:rPr lang="en-GB" sz="1100" u="none" strike="noStrike" baseline="-25000">
                          <a:effectLst/>
                        </a:rPr>
                        <a:t>2019</a:t>
                      </a:r>
                      <a:r>
                        <a:rPr lang="en-GB" sz="1100" u="none" strike="noStrike">
                          <a:effectLst/>
                        </a:rPr>
                        <a:t> kg</a:t>
                      </a:r>
                      <a:r>
                        <a:rPr lang="en-GB" sz="1100" u="none" strike="noStrike" baseline="30000">
                          <a:effectLst/>
                        </a:rPr>
                        <a:t>-1</a:t>
                      </a:r>
                      <a:r>
                        <a:rPr lang="en-GB" sz="1100" u="none" strike="noStrike">
                          <a:effectLst/>
                        </a:rPr>
                        <a:t> N</a:t>
                      </a:r>
                      <a:r>
                        <a:rPr lang="en-GB" sz="1100" u="none" strike="noStrike" baseline="-25000">
                          <a:effectLst/>
                        </a:rPr>
                        <a:t>2</a:t>
                      </a:r>
                      <a:r>
                        <a:rPr lang="en-GB" sz="1100" u="none" strike="noStrike">
                          <a:effectLst/>
                        </a:rPr>
                        <a:t>O</a:t>
                      </a:r>
                      <a:endParaRPr lang="en-GB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u="none" strike="noStrike">
                          <a:effectLst/>
                        </a:rPr>
                        <a:t>USD</a:t>
                      </a:r>
                      <a:r>
                        <a:rPr lang="en-GB" sz="1100" u="none" strike="noStrike" baseline="-25000">
                          <a:effectLst/>
                        </a:rPr>
                        <a:t>2022 </a:t>
                      </a:r>
                      <a:r>
                        <a:rPr lang="en-GB" sz="1100" u="none" strike="noStrike">
                          <a:effectLst/>
                        </a:rPr>
                        <a:t>kg</a:t>
                      </a:r>
                      <a:r>
                        <a:rPr lang="en-GB" sz="1100" u="none" strike="noStrike" baseline="30000">
                          <a:effectLst/>
                        </a:rPr>
                        <a:t>-1</a:t>
                      </a:r>
                      <a:r>
                        <a:rPr lang="en-GB" sz="1100" u="none" strike="noStrike">
                          <a:effectLst/>
                        </a:rPr>
                        <a:t> N</a:t>
                      </a:r>
                      <a:r>
                        <a:rPr lang="en-GB" sz="1100" u="none" strike="noStrike" baseline="-25000">
                          <a:effectLst/>
                        </a:rPr>
                        <a:t>2</a:t>
                      </a:r>
                      <a:r>
                        <a:rPr lang="en-GB" sz="1100" u="none" strike="noStrike">
                          <a:effectLst/>
                        </a:rPr>
                        <a:t>O</a:t>
                      </a:r>
                      <a:endParaRPr lang="en-GB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109795503"/>
                  </a:ext>
                </a:extLst>
              </a:tr>
              <a:tr h="247914">
                <a:tc>
                  <a:txBody>
                    <a:bodyPr/>
                    <a:lstStyle/>
                    <a:p>
                      <a:pPr algn="l" fontAlgn="b"/>
                      <a:r>
                        <a:rPr lang="en-GB" sz="1100" u="none" strike="noStrike">
                          <a:effectLst/>
                        </a:rPr>
                        <a:t>Oxygen</a:t>
                      </a:r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u="none" strike="noStrike">
                          <a:effectLst/>
                        </a:rPr>
                        <a:t>0.183</a:t>
                      </a:r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u="none" strike="noStrike">
                          <a:effectLst/>
                        </a:rPr>
                        <a:t>0.246</a:t>
                      </a:r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926321789"/>
                  </a:ext>
                </a:extLst>
              </a:tr>
              <a:tr h="247914">
                <a:tc>
                  <a:txBody>
                    <a:bodyPr/>
                    <a:lstStyle/>
                    <a:p>
                      <a:pPr algn="l" fontAlgn="b"/>
                      <a:r>
                        <a:rPr lang="en-GB" sz="1100" u="none" strike="noStrike">
                          <a:effectLst/>
                        </a:rPr>
                        <a:t>Ammonia</a:t>
                      </a:r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u="none" strike="noStrike">
                          <a:effectLst/>
                        </a:rPr>
                        <a:t>0.316</a:t>
                      </a:r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u="none" strike="noStrike">
                          <a:effectLst/>
                        </a:rPr>
                        <a:t>1.199</a:t>
                      </a:r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877058728"/>
                  </a:ext>
                </a:extLst>
              </a:tr>
              <a:tr h="247914">
                <a:tc>
                  <a:txBody>
                    <a:bodyPr/>
                    <a:lstStyle/>
                    <a:p>
                      <a:pPr algn="l" fontAlgn="b"/>
                      <a:r>
                        <a:rPr lang="en-GB" sz="1100" u="none" strike="noStrike">
                          <a:effectLst/>
                        </a:rPr>
                        <a:t>Electricity</a:t>
                      </a:r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u="none" strike="noStrike">
                          <a:effectLst/>
                        </a:rPr>
                        <a:t>0.003</a:t>
                      </a:r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u="none" strike="noStrike">
                          <a:effectLst/>
                        </a:rPr>
                        <a:t>0.022</a:t>
                      </a:r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936752377"/>
                  </a:ext>
                </a:extLst>
              </a:tr>
              <a:tr h="247914">
                <a:tc>
                  <a:txBody>
                    <a:bodyPr/>
                    <a:lstStyle/>
                    <a:p>
                      <a:pPr algn="l" fontAlgn="b"/>
                      <a:r>
                        <a:rPr lang="en-GB" sz="1100" u="none" strike="noStrike">
                          <a:effectLst/>
                        </a:rPr>
                        <a:t>Cooling water</a:t>
                      </a:r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u="none" strike="noStrike">
                          <a:effectLst/>
                        </a:rPr>
                        <a:t>0.003</a:t>
                      </a:r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u="none" strike="noStrike">
                          <a:effectLst/>
                        </a:rPr>
                        <a:t>0.004</a:t>
                      </a:r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806391984"/>
                  </a:ext>
                </a:extLst>
              </a:tr>
              <a:tr h="247914">
                <a:tc>
                  <a:txBody>
                    <a:bodyPr/>
                    <a:lstStyle/>
                    <a:p>
                      <a:pPr algn="l" fontAlgn="b"/>
                      <a:r>
                        <a:rPr lang="en-GB" sz="1100" u="none" strike="noStrike">
                          <a:effectLst/>
                        </a:rPr>
                        <a:t>CAPEX</a:t>
                      </a:r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u="none" strike="noStrike">
                          <a:effectLst/>
                        </a:rPr>
                        <a:t>0.047</a:t>
                      </a:r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u="none" strike="noStrike" dirty="0">
                          <a:effectLst/>
                        </a:rPr>
                        <a:t>0.063</a:t>
                      </a:r>
                      <a:endParaRPr lang="en-GB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869594842"/>
                  </a:ext>
                </a:extLst>
              </a:tr>
              <a:tr h="247914"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1" u="none" strike="noStrike">
                          <a:effectLst/>
                        </a:rPr>
                        <a:t>Total</a:t>
                      </a:r>
                      <a:endParaRPr lang="en-GB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1" u="none" strike="noStrike" dirty="0">
                          <a:effectLst/>
                        </a:rPr>
                        <a:t>0.553</a:t>
                      </a:r>
                      <a:endParaRPr lang="en-GB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1" u="none" strike="noStrike" dirty="0">
                          <a:effectLst/>
                        </a:rPr>
                        <a:t>1.534</a:t>
                      </a:r>
                      <a:endParaRPr lang="en-GB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800950087"/>
                  </a:ext>
                </a:extLst>
              </a:tr>
            </a:tbl>
          </a:graphicData>
        </a:graphic>
      </p:graphicFrame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E2C8040B-1B69-4EF3-AE7C-9FB7F742F87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03055264"/>
              </p:ext>
            </p:extLst>
          </p:nvPr>
        </p:nvGraphicFramePr>
        <p:xfrm>
          <a:off x="6379027" y="1834684"/>
          <a:ext cx="3841669" cy="204529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146591">
                  <a:extLst>
                    <a:ext uri="{9D8B030D-6E8A-4147-A177-3AD203B41FA5}">
                      <a16:colId xmlns:a16="http://schemas.microsoft.com/office/drawing/2014/main" val="3763092933"/>
                    </a:ext>
                  </a:extLst>
                </a:gridCol>
                <a:gridCol w="1347539">
                  <a:extLst>
                    <a:ext uri="{9D8B030D-6E8A-4147-A177-3AD203B41FA5}">
                      <a16:colId xmlns:a16="http://schemas.microsoft.com/office/drawing/2014/main" val="535753366"/>
                    </a:ext>
                  </a:extLst>
                </a:gridCol>
                <a:gridCol w="1347539">
                  <a:extLst>
                    <a:ext uri="{9D8B030D-6E8A-4147-A177-3AD203B41FA5}">
                      <a16:colId xmlns:a16="http://schemas.microsoft.com/office/drawing/2014/main" val="829425205"/>
                    </a:ext>
                  </a:extLst>
                </a:gridCol>
              </a:tblGrid>
              <a:tr h="247914">
                <a:tc gridSpan="3">
                  <a:txBody>
                    <a:bodyPr/>
                    <a:lstStyle/>
                    <a:p>
                      <a:pPr algn="ctr" fontAlgn="b"/>
                      <a:r>
                        <a:rPr lang="en-GB" sz="1100" b="1" u="none" strike="noStrike" dirty="0">
                          <a:effectLst/>
                        </a:rPr>
                        <a:t>Wind ammonia scenario (best)</a:t>
                      </a:r>
                      <a:endParaRPr lang="en-GB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95391304"/>
                  </a:ext>
                </a:extLst>
              </a:tr>
              <a:tr h="309892"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u="none" strike="noStrike">
                          <a:effectLst/>
                        </a:rPr>
                        <a:t>Component</a:t>
                      </a:r>
                      <a:endParaRPr lang="en-GB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u="none" strike="noStrike">
                          <a:effectLst/>
                        </a:rPr>
                        <a:t>USD</a:t>
                      </a:r>
                      <a:r>
                        <a:rPr lang="en-GB" sz="1100" u="none" strike="noStrike" baseline="-25000">
                          <a:effectLst/>
                        </a:rPr>
                        <a:t>2019</a:t>
                      </a:r>
                      <a:r>
                        <a:rPr lang="en-GB" sz="1100" u="none" strike="noStrike">
                          <a:effectLst/>
                        </a:rPr>
                        <a:t> kg</a:t>
                      </a:r>
                      <a:r>
                        <a:rPr lang="en-GB" sz="1100" u="none" strike="noStrike" baseline="30000">
                          <a:effectLst/>
                        </a:rPr>
                        <a:t>-1</a:t>
                      </a:r>
                      <a:r>
                        <a:rPr lang="en-GB" sz="1100" u="none" strike="noStrike">
                          <a:effectLst/>
                        </a:rPr>
                        <a:t> N</a:t>
                      </a:r>
                      <a:r>
                        <a:rPr lang="en-GB" sz="1100" u="none" strike="noStrike" baseline="-25000">
                          <a:effectLst/>
                        </a:rPr>
                        <a:t>2</a:t>
                      </a:r>
                      <a:r>
                        <a:rPr lang="en-GB" sz="1100" u="none" strike="noStrike">
                          <a:effectLst/>
                        </a:rPr>
                        <a:t>O</a:t>
                      </a:r>
                      <a:endParaRPr lang="en-GB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u="none" strike="noStrike" dirty="0">
                          <a:effectLst/>
                        </a:rPr>
                        <a:t>USD</a:t>
                      </a:r>
                      <a:r>
                        <a:rPr lang="en-GB" sz="1100" u="none" strike="noStrike" baseline="-25000" dirty="0">
                          <a:effectLst/>
                        </a:rPr>
                        <a:t>2022 </a:t>
                      </a:r>
                      <a:r>
                        <a:rPr lang="en-GB" sz="1100" u="none" strike="noStrike" dirty="0">
                          <a:effectLst/>
                        </a:rPr>
                        <a:t>kg</a:t>
                      </a:r>
                      <a:r>
                        <a:rPr lang="en-GB" sz="1100" u="none" strike="noStrike" baseline="30000" dirty="0">
                          <a:effectLst/>
                        </a:rPr>
                        <a:t>-1</a:t>
                      </a:r>
                      <a:r>
                        <a:rPr lang="en-GB" sz="1100" u="none" strike="noStrike" dirty="0">
                          <a:effectLst/>
                        </a:rPr>
                        <a:t> N</a:t>
                      </a:r>
                      <a:r>
                        <a:rPr lang="en-GB" sz="1100" u="none" strike="noStrike" baseline="-25000" dirty="0">
                          <a:effectLst/>
                        </a:rPr>
                        <a:t>2</a:t>
                      </a:r>
                      <a:r>
                        <a:rPr lang="en-GB" sz="1100" u="none" strike="noStrike" dirty="0">
                          <a:effectLst/>
                        </a:rPr>
                        <a:t>O</a:t>
                      </a:r>
                      <a:endParaRPr lang="en-GB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42420168"/>
                  </a:ext>
                </a:extLst>
              </a:tr>
              <a:tr h="247914">
                <a:tc>
                  <a:txBody>
                    <a:bodyPr/>
                    <a:lstStyle/>
                    <a:p>
                      <a:pPr algn="l" fontAlgn="b"/>
                      <a:r>
                        <a:rPr lang="en-GB" sz="1100" u="none" strike="noStrike">
                          <a:effectLst/>
                        </a:rPr>
                        <a:t>Oxygen</a:t>
                      </a:r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u="none" strike="noStrike">
                          <a:effectLst/>
                        </a:rPr>
                        <a:t>0.000</a:t>
                      </a:r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u="none" strike="noStrike" dirty="0">
                          <a:effectLst/>
                        </a:rPr>
                        <a:t>0.000</a:t>
                      </a:r>
                      <a:endParaRPr lang="en-GB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4237637817"/>
                  </a:ext>
                </a:extLst>
              </a:tr>
              <a:tr h="247914">
                <a:tc>
                  <a:txBody>
                    <a:bodyPr/>
                    <a:lstStyle/>
                    <a:p>
                      <a:pPr algn="l" fontAlgn="b"/>
                      <a:r>
                        <a:rPr lang="en-GB" sz="1100" u="none" strike="noStrike">
                          <a:effectLst/>
                        </a:rPr>
                        <a:t>Ammonia</a:t>
                      </a:r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u="none" strike="noStrike">
                          <a:effectLst/>
                        </a:rPr>
                        <a:t>1.134</a:t>
                      </a:r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u="none" strike="noStrike" dirty="0">
                          <a:effectLst/>
                        </a:rPr>
                        <a:t>1.170</a:t>
                      </a:r>
                      <a:endParaRPr lang="en-GB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4081177"/>
                  </a:ext>
                </a:extLst>
              </a:tr>
              <a:tr h="247914">
                <a:tc>
                  <a:txBody>
                    <a:bodyPr/>
                    <a:lstStyle/>
                    <a:p>
                      <a:pPr algn="l" fontAlgn="b"/>
                      <a:r>
                        <a:rPr lang="en-GB" sz="1100" u="none" strike="noStrike">
                          <a:effectLst/>
                        </a:rPr>
                        <a:t>Electricity</a:t>
                      </a:r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u="none" strike="noStrike">
                          <a:effectLst/>
                        </a:rPr>
                        <a:t>0.003</a:t>
                      </a:r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u="none" strike="noStrike" dirty="0">
                          <a:effectLst/>
                        </a:rPr>
                        <a:t>0.022</a:t>
                      </a:r>
                      <a:endParaRPr lang="en-GB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725046981"/>
                  </a:ext>
                </a:extLst>
              </a:tr>
              <a:tr h="247914">
                <a:tc>
                  <a:txBody>
                    <a:bodyPr/>
                    <a:lstStyle/>
                    <a:p>
                      <a:pPr algn="l" fontAlgn="b"/>
                      <a:r>
                        <a:rPr lang="en-GB" sz="1100" u="none" strike="noStrike">
                          <a:effectLst/>
                        </a:rPr>
                        <a:t>Cooling water</a:t>
                      </a:r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u="none" strike="noStrike">
                          <a:effectLst/>
                        </a:rPr>
                        <a:t>0.003</a:t>
                      </a:r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u="none" strike="noStrike" dirty="0">
                          <a:effectLst/>
                        </a:rPr>
                        <a:t>0.004</a:t>
                      </a:r>
                      <a:endParaRPr lang="en-GB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873853633"/>
                  </a:ext>
                </a:extLst>
              </a:tr>
              <a:tr h="247914">
                <a:tc>
                  <a:txBody>
                    <a:bodyPr/>
                    <a:lstStyle/>
                    <a:p>
                      <a:pPr algn="l" fontAlgn="b"/>
                      <a:r>
                        <a:rPr lang="en-GB" sz="1100" u="none" strike="noStrike">
                          <a:effectLst/>
                        </a:rPr>
                        <a:t>CAPEX</a:t>
                      </a:r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u="none" strike="noStrike">
                          <a:effectLst/>
                        </a:rPr>
                        <a:t>0.047</a:t>
                      </a:r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u="none" strike="noStrike" dirty="0">
                          <a:effectLst/>
                        </a:rPr>
                        <a:t>0.063</a:t>
                      </a:r>
                      <a:endParaRPr lang="en-GB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408736439"/>
                  </a:ext>
                </a:extLst>
              </a:tr>
              <a:tr h="247914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</a:t>
                      </a:r>
                      <a:r>
                        <a:rPr lang="en-GB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otal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1" u="none" strike="noStrike">
                          <a:effectLst/>
                        </a:rPr>
                        <a:t>1.187</a:t>
                      </a:r>
                      <a:endParaRPr lang="en-GB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1" u="none" strike="noStrike" dirty="0">
                          <a:effectLst/>
                        </a:rPr>
                        <a:t>1.258</a:t>
                      </a:r>
                      <a:endParaRPr lang="en-GB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430042897"/>
                  </a:ext>
                </a:extLst>
              </a:tr>
            </a:tbl>
          </a:graphicData>
        </a:graphic>
      </p:graphicFrame>
      <p:graphicFrame>
        <p:nvGraphicFramePr>
          <p:cNvPr id="12" name="Chart 11">
            <a:extLst>
              <a:ext uri="{FF2B5EF4-FFF2-40B4-BE49-F238E27FC236}">
                <a16:creationId xmlns:a16="http://schemas.microsoft.com/office/drawing/2014/main" id="{29214CED-BA96-481E-B43D-D16EC29978F3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171249175"/>
              </p:ext>
            </p:extLst>
          </p:nvPr>
        </p:nvGraphicFramePr>
        <p:xfrm>
          <a:off x="1971305" y="4023970"/>
          <a:ext cx="3841668" cy="230390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15" name="Chart 14">
            <a:extLst>
              <a:ext uri="{FF2B5EF4-FFF2-40B4-BE49-F238E27FC236}">
                <a16:creationId xmlns:a16="http://schemas.microsoft.com/office/drawing/2014/main" id="{1BCDA5FC-18DD-4E6F-ACEA-4CC6105DD1C7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948819831"/>
              </p:ext>
            </p:extLst>
          </p:nvPr>
        </p:nvGraphicFramePr>
        <p:xfrm>
          <a:off x="6380215" y="4023970"/>
          <a:ext cx="3840480" cy="230428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352865171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B42B9A-D450-47A5-92A6-F2A803DCC7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BAU flowsheet – actual case</a:t>
            </a:r>
            <a:endParaRPr lang="en-GB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5D2FCA7-C437-4B0A-92DC-4522EFE5FAF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2563" y="2111432"/>
            <a:ext cx="11606873" cy="36491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02007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B42B9A-D450-47A5-92A6-F2A803DCC7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Emissions from literature</a:t>
            </a:r>
            <a:endParaRPr lang="en-GB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1716C7F-9B3E-40CE-BEE9-72C201F43E6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2525" y="4234732"/>
            <a:ext cx="9886950" cy="188595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C6347E7A-60B2-4800-8568-CB644A10E2D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33637" y="1441299"/>
            <a:ext cx="7324725" cy="24669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140268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B42B9A-D450-47A5-92A6-F2A803DCC7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Actual economics</a:t>
            </a:r>
            <a:endParaRPr lang="en-GB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73F51067-0102-4732-8B65-98487E8964A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72602553"/>
              </p:ext>
            </p:extLst>
          </p:nvPr>
        </p:nvGraphicFramePr>
        <p:xfrm>
          <a:off x="1971306" y="1834684"/>
          <a:ext cx="3841667" cy="204529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095899">
                  <a:extLst>
                    <a:ext uri="{9D8B030D-6E8A-4147-A177-3AD203B41FA5}">
                      <a16:colId xmlns:a16="http://schemas.microsoft.com/office/drawing/2014/main" val="2734501084"/>
                    </a:ext>
                  </a:extLst>
                </a:gridCol>
                <a:gridCol w="1372884">
                  <a:extLst>
                    <a:ext uri="{9D8B030D-6E8A-4147-A177-3AD203B41FA5}">
                      <a16:colId xmlns:a16="http://schemas.microsoft.com/office/drawing/2014/main" val="1158609983"/>
                    </a:ext>
                  </a:extLst>
                </a:gridCol>
                <a:gridCol w="1372884">
                  <a:extLst>
                    <a:ext uri="{9D8B030D-6E8A-4147-A177-3AD203B41FA5}">
                      <a16:colId xmlns:a16="http://schemas.microsoft.com/office/drawing/2014/main" val="1015908760"/>
                    </a:ext>
                  </a:extLst>
                </a:gridCol>
              </a:tblGrid>
              <a:tr h="247914">
                <a:tc gridSpan="3">
                  <a:txBody>
                    <a:bodyPr/>
                    <a:lstStyle/>
                    <a:p>
                      <a:pPr algn="ctr" fontAlgn="b"/>
                      <a:r>
                        <a:rPr lang="en-GB" sz="1100" b="1" u="none" strike="noStrike" dirty="0">
                          <a:effectLst/>
                        </a:rPr>
                        <a:t>Fossil ammonia scenario (actual)</a:t>
                      </a:r>
                      <a:endParaRPr lang="en-GB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27568412"/>
                  </a:ext>
                </a:extLst>
              </a:tr>
              <a:tr h="309892"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u="none" strike="noStrike">
                          <a:effectLst/>
                        </a:rPr>
                        <a:t>Component</a:t>
                      </a:r>
                      <a:endParaRPr lang="en-GB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u="none" strike="noStrike">
                          <a:effectLst/>
                        </a:rPr>
                        <a:t>USD</a:t>
                      </a:r>
                      <a:r>
                        <a:rPr lang="en-GB" sz="1100" u="none" strike="noStrike" baseline="-25000">
                          <a:effectLst/>
                        </a:rPr>
                        <a:t>2019</a:t>
                      </a:r>
                      <a:r>
                        <a:rPr lang="en-GB" sz="1100" u="none" strike="noStrike">
                          <a:effectLst/>
                        </a:rPr>
                        <a:t> kg</a:t>
                      </a:r>
                      <a:r>
                        <a:rPr lang="en-GB" sz="1100" u="none" strike="noStrike" baseline="30000">
                          <a:effectLst/>
                        </a:rPr>
                        <a:t>-1</a:t>
                      </a:r>
                      <a:r>
                        <a:rPr lang="en-GB" sz="1100" u="none" strike="noStrike">
                          <a:effectLst/>
                        </a:rPr>
                        <a:t> N</a:t>
                      </a:r>
                      <a:r>
                        <a:rPr lang="en-GB" sz="1100" u="none" strike="noStrike" baseline="-25000">
                          <a:effectLst/>
                        </a:rPr>
                        <a:t>2</a:t>
                      </a:r>
                      <a:r>
                        <a:rPr lang="en-GB" sz="1100" u="none" strike="noStrike">
                          <a:effectLst/>
                        </a:rPr>
                        <a:t>O</a:t>
                      </a:r>
                      <a:endParaRPr lang="en-GB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u="none" strike="noStrike">
                          <a:effectLst/>
                        </a:rPr>
                        <a:t>USD</a:t>
                      </a:r>
                      <a:r>
                        <a:rPr lang="en-GB" sz="1100" u="none" strike="noStrike" baseline="-25000">
                          <a:effectLst/>
                        </a:rPr>
                        <a:t>2022 </a:t>
                      </a:r>
                      <a:r>
                        <a:rPr lang="en-GB" sz="1100" u="none" strike="noStrike">
                          <a:effectLst/>
                        </a:rPr>
                        <a:t>kg</a:t>
                      </a:r>
                      <a:r>
                        <a:rPr lang="en-GB" sz="1100" u="none" strike="noStrike" baseline="30000">
                          <a:effectLst/>
                        </a:rPr>
                        <a:t>-1</a:t>
                      </a:r>
                      <a:r>
                        <a:rPr lang="en-GB" sz="1100" u="none" strike="noStrike">
                          <a:effectLst/>
                        </a:rPr>
                        <a:t> N</a:t>
                      </a:r>
                      <a:r>
                        <a:rPr lang="en-GB" sz="1100" u="none" strike="noStrike" baseline="-25000">
                          <a:effectLst/>
                        </a:rPr>
                        <a:t>2</a:t>
                      </a:r>
                      <a:r>
                        <a:rPr lang="en-GB" sz="1100" u="none" strike="noStrike">
                          <a:effectLst/>
                        </a:rPr>
                        <a:t>O</a:t>
                      </a:r>
                      <a:endParaRPr lang="en-GB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736574647"/>
                  </a:ext>
                </a:extLst>
              </a:tr>
              <a:tr h="247914">
                <a:tc>
                  <a:txBody>
                    <a:bodyPr/>
                    <a:lstStyle/>
                    <a:p>
                      <a:pPr algn="l" fontAlgn="b"/>
                      <a:r>
                        <a:rPr lang="en-GB" sz="1100" u="none" strike="noStrike">
                          <a:effectLst/>
                        </a:rPr>
                        <a:t>Oxygen</a:t>
                      </a:r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u="none" strike="noStrike">
                          <a:effectLst/>
                        </a:rPr>
                        <a:t>0.189</a:t>
                      </a:r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u="none" strike="noStrike">
                          <a:effectLst/>
                        </a:rPr>
                        <a:t>0.254</a:t>
                      </a:r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97272863"/>
                  </a:ext>
                </a:extLst>
              </a:tr>
              <a:tr h="247914">
                <a:tc>
                  <a:txBody>
                    <a:bodyPr/>
                    <a:lstStyle/>
                    <a:p>
                      <a:pPr algn="l" fontAlgn="b"/>
                      <a:r>
                        <a:rPr lang="en-GB" sz="1100" u="none" strike="noStrike">
                          <a:effectLst/>
                        </a:rPr>
                        <a:t>Ammonia</a:t>
                      </a:r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u="none" strike="noStrike">
                          <a:effectLst/>
                        </a:rPr>
                        <a:t>0.328</a:t>
                      </a:r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u="none" strike="noStrike">
                          <a:effectLst/>
                        </a:rPr>
                        <a:t>1.245</a:t>
                      </a:r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955042523"/>
                  </a:ext>
                </a:extLst>
              </a:tr>
              <a:tr h="247914">
                <a:tc>
                  <a:txBody>
                    <a:bodyPr/>
                    <a:lstStyle/>
                    <a:p>
                      <a:pPr algn="l" fontAlgn="b"/>
                      <a:r>
                        <a:rPr lang="en-GB" sz="1100" u="none" strike="noStrike">
                          <a:effectLst/>
                        </a:rPr>
                        <a:t>Electricity</a:t>
                      </a:r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u="none" strike="noStrike">
                          <a:effectLst/>
                        </a:rPr>
                        <a:t>0.003</a:t>
                      </a:r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u="none" strike="noStrike">
                          <a:effectLst/>
                        </a:rPr>
                        <a:t>0.021</a:t>
                      </a:r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634561094"/>
                  </a:ext>
                </a:extLst>
              </a:tr>
              <a:tr h="247914">
                <a:tc>
                  <a:txBody>
                    <a:bodyPr/>
                    <a:lstStyle/>
                    <a:p>
                      <a:pPr algn="l" fontAlgn="b"/>
                      <a:r>
                        <a:rPr lang="en-GB" sz="1100" u="none" strike="noStrike">
                          <a:effectLst/>
                        </a:rPr>
                        <a:t>Cooling water</a:t>
                      </a:r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u="none" strike="noStrike">
                          <a:effectLst/>
                        </a:rPr>
                        <a:t>0.003</a:t>
                      </a:r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u="none" strike="noStrike">
                          <a:effectLst/>
                        </a:rPr>
                        <a:t>0.004</a:t>
                      </a:r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120011100"/>
                  </a:ext>
                </a:extLst>
              </a:tr>
              <a:tr h="247914">
                <a:tc>
                  <a:txBody>
                    <a:bodyPr/>
                    <a:lstStyle/>
                    <a:p>
                      <a:pPr algn="l" fontAlgn="b"/>
                      <a:r>
                        <a:rPr lang="en-GB" sz="1100" u="none" strike="noStrike">
                          <a:effectLst/>
                        </a:rPr>
                        <a:t>CAPEX</a:t>
                      </a:r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u="none" strike="noStrike">
                          <a:effectLst/>
                        </a:rPr>
                        <a:t>0.048</a:t>
                      </a:r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u="none" strike="noStrike" dirty="0">
                          <a:effectLst/>
                        </a:rPr>
                        <a:t>0.065</a:t>
                      </a:r>
                      <a:endParaRPr lang="en-GB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745468766"/>
                  </a:ext>
                </a:extLst>
              </a:tr>
              <a:tr h="247914"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1" u="none" strike="noStrike" dirty="0">
                          <a:effectLst/>
                        </a:rPr>
                        <a:t>Total</a:t>
                      </a:r>
                      <a:endParaRPr lang="en-GB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1" u="none" strike="noStrike">
                          <a:effectLst/>
                        </a:rPr>
                        <a:t>0.572</a:t>
                      </a:r>
                      <a:endParaRPr lang="en-GB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1" u="none" strike="noStrike" dirty="0">
                          <a:effectLst/>
                        </a:rPr>
                        <a:t>1.589</a:t>
                      </a:r>
                      <a:endParaRPr lang="en-GB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222268357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19C1A70E-A957-436C-A75C-C18E6DDE4FF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02165006"/>
              </p:ext>
            </p:extLst>
          </p:nvPr>
        </p:nvGraphicFramePr>
        <p:xfrm>
          <a:off x="6380215" y="1834684"/>
          <a:ext cx="3840480" cy="204529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146236">
                  <a:extLst>
                    <a:ext uri="{9D8B030D-6E8A-4147-A177-3AD203B41FA5}">
                      <a16:colId xmlns:a16="http://schemas.microsoft.com/office/drawing/2014/main" val="837289445"/>
                    </a:ext>
                  </a:extLst>
                </a:gridCol>
                <a:gridCol w="1347122">
                  <a:extLst>
                    <a:ext uri="{9D8B030D-6E8A-4147-A177-3AD203B41FA5}">
                      <a16:colId xmlns:a16="http://schemas.microsoft.com/office/drawing/2014/main" val="1839353095"/>
                    </a:ext>
                  </a:extLst>
                </a:gridCol>
                <a:gridCol w="1347122">
                  <a:extLst>
                    <a:ext uri="{9D8B030D-6E8A-4147-A177-3AD203B41FA5}">
                      <a16:colId xmlns:a16="http://schemas.microsoft.com/office/drawing/2014/main" val="784059807"/>
                    </a:ext>
                  </a:extLst>
                </a:gridCol>
              </a:tblGrid>
              <a:tr h="247914">
                <a:tc gridSpan="3">
                  <a:txBody>
                    <a:bodyPr/>
                    <a:lstStyle/>
                    <a:p>
                      <a:pPr algn="ctr" fontAlgn="b"/>
                      <a:r>
                        <a:rPr lang="en-GB" sz="1100" b="1" u="none" strike="noStrike" dirty="0">
                          <a:effectLst/>
                        </a:rPr>
                        <a:t>Wind ammonia scenario (actual)</a:t>
                      </a:r>
                      <a:endParaRPr lang="en-GB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36293638"/>
                  </a:ext>
                </a:extLst>
              </a:tr>
              <a:tr h="309892"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u="none" strike="noStrike">
                          <a:effectLst/>
                        </a:rPr>
                        <a:t>Component</a:t>
                      </a:r>
                      <a:endParaRPr lang="en-GB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u="none" strike="noStrike">
                          <a:effectLst/>
                        </a:rPr>
                        <a:t>USD</a:t>
                      </a:r>
                      <a:r>
                        <a:rPr lang="en-GB" sz="1100" u="none" strike="noStrike" baseline="-25000">
                          <a:effectLst/>
                        </a:rPr>
                        <a:t>2019</a:t>
                      </a:r>
                      <a:r>
                        <a:rPr lang="en-GB" sz="1100" u="none" strike="noStrike">
                          <a:effectLst/>
                        </a:rPr>
                        <a:t> kg</a:t>
                      </a:r>
                      <a:r>
                        <a:rPr lang="en-GB" sz="1100" u="none" strike="noStrike" baseline="30000">
                          <a:effectLst/>
                        </a:rPr>
                        <a:t>-1</a:t>
                      </a:r>
                      <a:r>
                        <a:rPr lang="en-GB" sz="1100" u="none" strike="noStrike">
                          <a:effectLst/>
                        </a:rPr>
                        <a:t> N</a:t>
                      </a:r>
                      <a:r>
                        <a:rPr lang="en-GB" sz="1100" u="none" strike="noStrike" baseline="-25000">
                          <a:effectLst/>
                        </a:rPr>
                        <a:t>2</a:t>
                      </a:r>
                      <a:r>
                        <a:rPr lang="en-GB" sz="1100" u="none" strike="noStrike">
                          <a:effectLst/>
                        </a:rPr>
                        <a:t>O</a:t>
                      </a:r>
                      <a:endParaRPr lang="en-GB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u="none" strike="noStrike" dirty="0">
                          <a:effectLst/>
                        </a:rPr>
                        <a:t>USD</a:t>
                      </a:r>
                      <a:r>
                        <a:rPr lang="en-GB" sz="1100" u="none" strike="noStrike" baseline="-25000" dirty="0">
                          <a:effectLst/>
                        </a:rPr>
                        <a:t>2022 </a:t>
                      </a:r>
                      <a:r>
                        <a:rPr lang="en-GB" sz="1100" u="none" strike="noStrike" dirty="0">
                          <a:effectLst/>
                        </a:rPr>
                        <a:t>kg</a:t>
                      </a:r>
                      <a:r>
                        <a:rPr lang="en-GB" sz="1100" u="none" strike="noStrike" baseline="30000" dirty="0">
                          <a:effectLst/>
                        </a:rPr>
                        <a:t>-1</a:t>
                      </a:r>
                      <a:r>
                        <a:rPr lang="en-GB" sz="1100" u="none" strike="noStrike" dirty="0">
                          <a:effectLst/>
                        </a:rPr>
                        <a:t> N</a:t>
                      </a:r>
                      <a:r>
                        <a:rPr lang="en-GB" sz="1100" u="none" strike="noStrike" baseline="-25000" dirty="0">
                          <a:effectLst/>
                        </a:rPr>
                        <a:t>2</a:t>
                      </a:r>
                      <a:r>
                        <a:rPr lang="en-GB" sz="1100" u="none" strike="noStrike" dirty="0">
                          <a:effectLst/>
                        </a:rPr>
                        <a:t>O</a:t>
                      </a:r>
                      <a:endParaRPr lang="en-GB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786119819"/>
                  </a:ext>
                </a:extLst>
              </a:tr>
              <a:tr h="247914">
                <a:tc>
                  <a:txBody>
                    <a:bodyPr/>
                    <a:lstStyle/>
                    <a:p>
                      <a:pPr algn="l" fontAlgn="b"/>
                      <a:r>
                        <a:rPr lang="en-GB" sz="1100" u="none" strike="noStrike">
                          <a:effectLst/>
                        </a:rPr>
                        <a:t>Oxygen</a:t>
                      </a:r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u="none" strike="noStrike">
                          <a:effectLst/>
                        </a:rPr>
                        <a:t>0.000</a:t>
                      </a:r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u="none" strike="noStrike" dirty="0">
                          <a:effectLst/>
                        </a:rPr>
                        <a:t>0.000</a:t>
                      </a:r>
                      <a:endParaRPr lang="en-GB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899351431"/>
                  </a:ext>
                </a:extLst>
              </a:tr>
              <a:tr h="247914">
                <a:tc>
                  <a:txBody>
                    <a:bodyPr/>
                    <a:lstStyle/>
                    <a:p>
                      <a:pPr algn="l" fontAlgn="b"/>
                      <a:r>
                        <a:rPr lang="en-GB" sz="1100" u="none" strike="noStrike">
                          <a:effectLst/>
                        </a:rPr>
                        <a:t>Ammonia</a:t>
                      </a:r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u="none" strike="noStrike">
                          <a:effectLst/>
                        </a:rPr>
                        <a:t>1.177</a:t>
                      </a:r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u="none" strike="noStrike" dirty="0">
                          <a:effectLst/>
                        </a:rPr>
                        <a:t>1.214</a:t>
                      </a:r>
                      <a:endParaRPr lang="en-GB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779281588"/>
                  </a:ext>
                </a:extLst>
              </a:tr>
              <a:tr h="247914">
                <a:tc>
                  <a:txBody>
                    <a:bodyPr/>
                    <a:lstStyle/>
                    <a:p>
                      <a:pPr algn="l" fontAlgn="b"/>
                      <a:r>
                        <a:rPr lang="en-GB" sz="1100" u="none" strike="noStrike">
                          <a:effectLst/>
                        </a:rPr>
                        <a:t>Electricity</a:t>
                      </a:r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u="none" strike="noStrike">
                          <a:effectLst/>
                        </a:rPr>
                        <a:t>0.003</a:t>
                      </a:r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u="none" strike="noStrike">
                          <a:effectLst/>
                        </a:rPr>
                        <a:t>0.021</a:t>
                      </a:r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731973003"/>
                  </a:ext>
                </a:extLst>
              </a:tr>
              <a:tr h="247914">
                <a:tc>
                  <a:txBody>
                    <a:bodyPr/>
                    <a:lstStyle/>
                    <a:p>
                      <a:pPr algn="l" fontAlgn="b"/>
                      <a:r>
                        <a:rPr lang="en-GB" sz="1100" u="none" strike="noStrike">
                          <a:effectLst/>
                        </a:rPr>
                        <a:t>Cooling water</a:t>
                      </a:r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u="none" strike="noStrike">
                          <a:effectLst/>
                        </a:rPr>
                        <a:t>0.003</a:t>
                      </a:r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u="none" strike="noStrike">
                          <a:effectLst/>
                        </a:rPr>
                        <a:t>0.004</a:t>
                      </a:r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963774714"/>
                  </a:ext>
                </a:extLst>
              </a:tr>
              <a:tr h="247914">
                <a:tc>
                  <a:txBody>
                    <a:bodyPr/>
                    <a:lstStyle/>
                    <a:p>
                      <a:pPr algn="l" fontAlgn="b"/>
                      <a:r>
                        <a:rPr lang="en-GB" sz="1100" u="none" strike="noStrike">
                          <a:effectLst/>
                        </a:rPr>
                        <a:t>CAPEX</a:t>
                      </a:r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u="none" strike="noStrike">
                          <a:effectLst/>
                        </a:rPr>
                        <a:t>0.048</a:t>
                      </a:r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u="none" strike="noStrike">
                          <a:effectLst/>
                        </a:rPr>
                        <a:t>0.065</a:t>
                      </a:r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895928346"/>
                  </a:ext>
                </a:extLst>
              </a:tr>
              <a:tr h="247914"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1" u="none" strike="noStrike">
                          <a:effectLst/>
                        </a:rPr>
                        <a:t>Total</a:t>
                      </a:r>
                      <a:endParaRPr lang="en-GB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1" u="none" strike="noStrike">
                          <a:effectLst/>
                        </a:rPr>
                        <a:t>1.231</a:t>
                      </a:r>
                      <a:endParaRPr lang="en-GB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1" u="none" strike="noStrike" dirty="0">
                          <a:effectLst/>
                        </a:rPr>
                        <a:t>1.304</a:t>
                      </a:r>
                      <a:endParaRPr lang="en-GB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4178386104"/>
                  </a:ext>
                </a:extLst>
              </a:tr>
            </a:tbl>
          </a:graphicData>
        </a:graphic>
      </p:graphicFrame>
      <p:graphicFrame>
        <p:nvGraphicFramePr>
          <p:cNvPr id="14" name="Chart 13">
            <a:extLst>
              <a:ext uri="{FF2B5EF4-FFF2-40B4-BE49-F238E27FC236}">
                <a16:creationId xmlns:a16="http://schemas.microsoft.com/office/drawing/2014/main" id="{474081DB-2596-45F5-BA2E-03FA59780E7F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286586211"/>
              </p:ext>
            </p:extLst>
          </p:nvPr>
        </p:nvGraphicFramePr>
        <p:xfrm>
          <a:off x="1906118" y="4021732"/>
          <a:ext cx="3905668" cy="255175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16" name="Chart 15">
            <a:extLst>
              <a:ext uri="{FF2B5EF4-FFF2-40B4-BE49-F238E27FC236}">
                <a16:creationId xmlns:a16="http://schemas.microsoft.com/office/drawing/2014/main" id="{1E30CA8D-0AC6-43AB-9502-CC8078D3B09C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249096635"/>
              </p:ext>
            </p:extLst>
          </p:nvPr>
        </p:nvGraphicFramePr>
        <p:xfrm>
          <a:off x="6380215" y="4021046"/>
          <a:ext cx="3905668" cy="255175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133122411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6414E3-513A-48F5-992B-8C796A6B0A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One step synthesis – 80%, 90%, or 100%</a:t>
            </a:r>
            <a:endParaRPr lang="en-GB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E0681B7-62E8-4828-8F65-E9D8CC4724D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76412" y="2195512"/>
            <a:ext cx="8639175" cy="24669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958641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B42B9A-D450-47A5-92A6-F2A803DCC7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Economics of one step process</a:t>
            </a:r>
            <a:endParaRPr lang="en-GB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73FBEEE2-4DFB-41EC-8331-76BBBEB3AA9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79920692"/>
              </p:ext>
            </p:extLst>
          </p:nvPr>
        </p:nvGraphicFramePr>
        <p:xfrm>
          <a:off x="1989579" y="1834684"/>
          <a:ext cx="3823394" cy="204529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090686">
                  <a:extLst>
                    <a:ext uri="{9D8B030D-6E8A-4147-A177-3AD203B41FA5}">
                      <a16:colId xmlns:a16="http://schemas.microsoft.com/office/drawing/2014/main" val="2336915930"/>
                    </a:ext>
                  </a:extLst>
                </a:gridCol>
                <a:gridCol w="1366354">
                  <a:extLst>
                    <a:ext uri="{9D8B030D-6E8A-4147-A177-3AD203B41FA5}">
                      <a16:colId xmlns:a16="http://schemas.microsoft.com/office/drawing/2014/main" val="1379587990"/>
                    </a:ext>
                  </a:extLst>
                </a:gridCol>
                <a:gridCol w="1366354">
                  <a:extLst>
                    <a:ext uri="{9D8B030D-6E8A-4147-A177-3AD203B41FA5}">
                      <a16:colId xmlns:a16="http://schemas.microsoft.com/office/drawing/2014/main" val="3207235381"/>
                    </a:ext>
                  </a:extLst>
                </a:gridCol>
              </a:tblGrid>
              <a:tr h="247914">
                <a:tc gridSpan="3">
                  <a:txBody>
                    <a:bodyPr/>
                    <a:lstStyle/>
                    <a:p>
                      <a:pPr algn="ctr" fontAlgn="b"/>
                      <a:r>
                        <a:rPr lang="it-IT" sz="1100" b="1" u="none" strike="noStrike" dirty="0" err="1">
                          <a:effectLst/>
                        </a:rPr>
                        <a:t>Fossil</a:t>
                      </a:r>
                      <a:r>
                        <a:rPr lang="it-IT" sz="1100" b="1" u="none" strike="noStrike" dirty="0">
                          <a:effectLst/>
                        </a:rPr>
                        <a:t> </a:t>
                      </a:r>
                      <a:r>
                        <a:rPr lang="it-IT" sz="1100" b="1" u="none" strike="noStrike" dirty="0" err="1">
                          <a:effectLst/>
                        </a:rPr>
                        <a:t>ammonia</a:t>
                      </a:r>
                      <a:r>
                        <a:rPr lang="it-IT" sz="1100" b="1" u="none" strike="noStrike" dirty="0">
                          <a:effectLst/>
                        </a:rPr>
                        <a:t> scenario 90% </a:t>
                      </a:r>
                      <a:r>
                        <a:rPr lang="it-IT" sz="1100" b="1" u="none" strike="noStrike" dirty="0" err="1">
                          <a:effectLst/>
                        </a:rPr>
                        <a:t>selectivity</a:t>
                      </a:r>
                      <a:endParaRPr lang="it-IT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86523354"/>
                  </a:ext>
                </a:extLst>
              </a:tr>
              <a:tr h="309892"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u="none" strike="noStrike" dirty="0">
                          <a:effectLst/>
                        </a:rPr>
                        <a:t>Component</a:t>
                      </a:r>
                      <a:endParaRPr lang="en-GB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u="none" strike="noStrike">
                          <a:effectLst/>
                        </a:rPr>
                        <a:t>USD</a:t>
                      </a:r>
                      <a:r>
                        <a:rPr lang="en-GB" sz="1100" u="none" strike="noStrike" baseline="-25000">
                          <a:effectLst/>
                        </a:rPr>
                        <a:t>2019</a:t>
                      </a:r>
                      <a:r>
                        <a:rPr lang="en-GB" sz="1100" u="none" strike="noStrike">
                          <a:effectLst/>
                        </a:rPr>
                        <a:t> kg</a:t>
                      </a:r>
                      <a:r>
                        <a:rPr lang="en-GB" sz="1100" u="none" strike="noStrike" baseline="30000">
                          <a:effectLst/>
                        </a:rPr>
                        <a:t>-1</a:t>
                      </a:r>
                      <a:r>
                        <a:rPr lang="en-GB" sz="1100" u="none" strike="noStrike">
                          <a:effectLst/>
                        </a:rPr>
                        <a:t> N</a:t>
                      </a:r>
                      <a:r>
                        <a:rPr lang="en-GB" sz="1100" u="none" strike="noStrike" baseline="-25000">
                          <a:effectLst/>
                        </a:rPr>
                        <a:t>2</a:t>
                      </a:r>
                      <a:r>
                        <a:rPr lang="en-GB" sz="1100" u="none" strike="noStrike">
                          <a:effectLst/>
                        </a:rPr>
                        <a:t>O</a:t>
                      </a:r>
                      <a:endParaRPr lang="en-GB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u="none" strike="noStrike">
                          <a:effectLst/>
                        </a:rPr>
                        <a:t>USD</a:t>
                      </a:r>
                      <a:r>
                        <a:rPr lang="en-GB" sz="1100" u="none" strike="noStrike" baseline="-25000">
                          <a:effectLst/>
                        </a:rPr>
                        <a:t>2022 </a:t>
                      </a:r>
                      <a:r>
                        <a:rPr lang="en-GB" sz="1100" u="none" strike="noStrike">
                          <a:effectLst/>
                        </a:rPr>
                        <a:t>kg</a:t>
                      </a:r>
                      <a:r>
                        <a:rPr lang="en-GB" sz="1100" u="none" strike="noStrike" baseline="30000">
                          <a:effectLst/>
                        </a:rPr>
                        <a:t>-1</a:t>
                      </a:r>
                      <a:r>
                        <a:rPr lang="en-GB" sz="1100" u="none" strike="noStrike">
                          <a:effectLst/>
                        </a:rPr>
                        <a:t> N</a:t>
                      </a:r>
                      <a:r>
                        <a:rPr lang="en-GB" sz="1100" u="none" strike="noStrike" baseline="-25000">
                          <a:effectLst/>
                        </a:rPr>
                        <a:t>2</a:t>
                      </a:r>
                      <a:r>
                        <a:rPr lang="en-GB" sz="1100" u="none" strike="noStrike">
                          <a:effectLst/>
                        </a:rPr>
                        <a:t>O</a:t>
                      </a:r>
                      <a:endParaRPr lang="en-GB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62866115"/>
                  </a:ext>
                </a:extLst>
              </a:tr>
              <a:tr h="247914">
                <a:tc>
                  <a:txBody>
                    <a:bodyPr/>
                    <a:lstStyle/>
                    <a:p>
                      <a:pPr algn="l" fontAlgn="b"/>
                      <a:r>
                        <a:rPr lang="en-GB" sz="1100" u="none" strike="noStrike">
                          <a:effectLst/>
                        </a:rPr>
                        <a:t>Oxygen</a:t>
                      </a:r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u="none" strike="noStrike">
                          <a:effectLst/>
                        </a:rPr>
                        <a:t>0.196</a:t>
                      </a:r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u="none" strike="noStrike">
                          <a:effectLst/>
                        </a:rPr>
                        <a:t>0.263</a:t>
                      </a:r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522200607"/>
                  </a:ext>
                </a:extLst>
              </a:tr>
              <a:tr h="247914">
                <a:tc>
                  <a:txBody>
                    <a:bodyPr/>
                    <a:lstStyle/>
                    <a:p>
                      <a:pPr algn="l" fontAlgn="b"/>
                      <a:r>
                        <a:rPr lang="en-GB" sz="1100" u="none" strike="noStrike">
                          <a:effectLst/>
                        </a:rPr>
                        <a:t>Ammonia</a:t>
                      </a:r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u="none" strike="noStrike">
                          <a:effectLst/>
                        </a:rPr>
                        <a:t>0.344</a:t>
                      </a:r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u="none" strike="noStrike">
                          <a:effectLst/>
                        </a:rPr>
                        <a:t>1.305</a:t>
                      </a:r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55674673"/>
                  </a:ext>
                </a:extLst>
              </a:tr>
              <a:tr h="247914">
                <a:tc>
                  <a:txBody>
                    <a:bodyPr/>
                    <a:lstStyle/>
                    <a:p>
                      <a:pPr algn="l" fontAlgn="b"/>
                      <a:r>
                        <a:rPr lang="en-GB" sz="1100" u="none" strike="noStrike">
                          <a:effectLst/>
                        </a:rPr>
                        <a:t>Electricity</a:t>
                      </a:r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u="none" strike="noStrike">
                          <a:effectLst/>
                        </a:rPr>
                        <a:t>0.000</a:t>
                      </a:r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u="none" strike="noStrike">
                          <a:effectLst/>
                        </a:rPr>
                        <a:t>0.000</a:t>
                      </a:r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4036634727"/>
                  </a:ext>
                </a:extLst>
              </a:tr>
              <a:tr h="247914">
                <a:tc>
                  <a:txBody>
                    <a:bodyPr/>
                    <a:lstStyle/>
                    <a:p>
                      <a:pPr algn="l" fontAlgn="b"/>
                      <a:r>
                        <a:rPr lang="en-GB" sz="1100" u="none" strike="noStrike">
                          <a:effectLst/>
                        </a:rPr>
                        <a:t>Cooling water</a:t>
                      </a:r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u="none" strike="noStrike">
                          <a:effectLst/>
                        </a:rPr>
                        <a:t>0.002</a:t>
                      </a:r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u="none" strike="noStrike" dirty="0">
                          <a:effectLst/>
                        </a:rPr>
                        <a:t>0.002</a:t>
                      </a:r>
                      <a:endParaRPr lang="en-GB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202048144"/>
                  </a:ext>
                </a:extLst>
              </a:tr>
              <a:tr h="247914">
                <a:tc>
                  <a:txBody>
                    <a:bodyPr/>
                    <a:lstStyle/>
                    <a:p>
                      <a:pPr algn="l" fontAlgn="b"/>
                      <a:r>
                        <a:rPr lang="en-GB" sz="1100" u="none" strike="noStrike">
                          <a:effectLst/>
                        </a:rPr>
                        <a:t>CAPEX</a:t>
                      </a:r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u="none" strike="noStrike">
                          <a:effectLst/>
                        </a:rPr>
                        <a:t>0.012</a:t>
                      </a:r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u="none" strike="noStrike" dirty="0">
                          <a:effectLst/>
                        </a:rPr>
                        <a:t>0.016</a:t>
                      </a:r>
                      <a:endParaRPr lang="en-GB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44316263"/>
                  </a:ext>
                </a:extLst>
              </a:tr>
              <a:tr h="247914"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1" u="none" strike="noStrike">
                          <a:effectLst/>
                        </a:rPr>
                        <a:t>Total</a:t>
                      </a:r>
                      <a:endParaRPr lang="en-GB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1" u="none" strike="noStrike">
                          <a:effectLst/>
                        </a:rPr>
                        <a:t>0.554</a:t>
                      </a:r>
                      <a:endParaRPr lang="en-GB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1" u="none" strike="noStrike" dirty="0">
                          <a:effectLst/>
                        </a:rPr>
                        <a:t>1.587</a:t>
                      </a:r>
                      <a:endParaRPr lang="en-GB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12198804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9318419C-BB55-43A9-818B-AA1BDDD2986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83732373"/>
              </p:ext>
            </p:extLst>
          </p:nvPr>
        </p:nvGraphicFramePr>
        <p:xfrm>
          <a:off x="6397301" y="1834684"/>
          <a:ext cx="3823394" cy="204529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141136">
                  <a:extLst>
                    <a:ext uri="{9D8B030D-6E8A-4147-A177-3AD203B41FA5}">
                      <a16:colId xmlns:a16="http://schemas.microsoft.com/office/drawing/2014/main" val="2400183785"/>
                    </a:ext>
                  </a:extLst>
                </a:gridCol>
                <a:gridCol w="1341129">
                  <a:extLst>
                    <a:ext uri="{9D8B030D-6E8A-4147-A177-3AD203B41FA5}">
                      <a16:colId xmlns:a16="http://schemas.microsoft.com/office/drawing/2014/main" val="296218640"/>
                    </a:ext>
                  </a:extLst>
                </a:gridCol>
                <a:gridCol w="1341129">
                  <a:extLst>
                    <a:ext uri="{9D8B030D-6E8A-4147-A177-3AD203B41FA5}">
                      <a16:colId xmlns:a16="http://schemas.microsoft.com/office/drawing/2014/main" val="1641818892"/>
                    </a:ext>
                  </a:extLst>
                </a:gridCol>
              </a:tblGrid>
              <a:tr h="247914">
                <a:tc gridSpan="3">
                  <a:txBody>
                    <a:bodyPr/>
                    <a:lstStyle/>
                    <a:p>
                      <a:pPr algn="ctr" fontAlgn="b"/>
                      <a:r>
                        <a:rPr lang="en-GB" sz="1100" b="1" u="none" strike="noStrike" dirty="0">
                          <a:effectLst/>
                        </a:rPr>
                        <a:t>Wind ammonia scenario 90% selectivity</a:t>
                      </a:r>
                      <a:endParaRPr lang="en-GB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17880870"/>
                  </a:ext>
                </a:extLst>
              </a:tr>
              <a:tr h="309892"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u="none" strike="noStrike">
                          <a:effectLst/>
                        </a:rPr>
                        <a:t>Component</a:t>
                      </a:r>
                      <a:endParaRPr lang="en-GB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u="none" strike="noStrike">
                          <a:effectLst/>
                        </a:rPr>
                        <a:t>USD</a:t>
                      </a:r>
                      <a:r>
                        <a:rPr lang="en-GB" sz="1100" u="none" strike="noStrike" baseline="-25000">
                          <a:effectLst/>
                        </a:rPr>
                        <a:t>2019</a:t>
                      </a:r>
                      <a:r>
                        <a:rPr lang="en-GB" sz="1100" u="none" strike="noStrike">
                          <a:effectLst/>
                        </a:rPr>
                        <a:t> kg</a:t>
                      </a:r>
                      <a:r>
                        <a:rPr lang="en-GB" sz="1100" u="none" strike="noStrike" baseline="30000">
                          <a:effectLst/>
                        </a:rPr>
                        <a:t>-1</a:t>
                      </a:r>
                      <a:r>
                        <a:rPr lang="en-GB" sz="1100" u="none" strike="noStrike">
                          <a:effectLst/>
                        </a:rPr>
                        <a:t> N</a:t>
                      </a:r>
                      <a:r>
                        <a:rPr lang="en-GB" sz="1100" u="none" strike="noStrike" baseline="-25000">
                          <a:effectLst/>
                        </a:rPr>
                        <a:t>2</a:t>
                      </a:r>
                      <a:r>
                        <a:rPr lang="en-GB" sz="1100" u="none" strike="noStrike">
                          <a:effectLst/>
                        </a:rPr>
                        <a:t>O</a:t>
                      </a:r>
                      <a:endParaRPr lang="en-GB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u="none" strike="noStrike">
                          <a:effectLst/>
                        </a:rPr>
                        <a:t>USD</a:t>
                      </a:r>
                      <a:r>
                        <a:rPr lang="en-GB" sz="1100" u="none" strike="noStrike" baseline="-25000">
                          <a:effectLst/>
                        </a:rPr>
                        <a:t>2022 </a:t>
                      </a:r>
                      <a:r>
                        <a:rPr lang="en-GB" sz="1100" u="none" strike="noStrike">
                          <a:effectLst/>
                        </a:rPr>
                        <a:t>kg</a:t>
                      </a:r>
                      <a:r>
                        <a:rPr lang="en-GB" sz="1100" u="none" strike="noStrike" baseline="30000">
                          <a:effectLst/>
                        </a:rPr>
                        <a:t>-1</a:t>
                      </a:r>
                      <a:r>
                        <a:rPr lang="en-GB" sz="1100" u="none" strike="noStrike">
                          <a:effectLst/>
                        </a:rPr>
                        <a:t> N</a:t>
                      </a:r>
                      <a:r>
                        <a:rPr lang="en-GB" sz="1100" u="none" strike="noStrike" baseline="-25000">
                          <a:effectLst/>
                        </a:rPr>
                        <a:t>2</a:t>
                      </a:r>
                      <a:r>
                        <a:rPr lang="en-GB" sz="1100" u="none" strike="noStrike">
                          <a:effectLst/>
                        </a:rPr>
                        <a:t>O</a:t>
                      </a:r>
                      <a:endParaRPr lang="en-GB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54426785"/>
                  </a:ext>
                </a:extLst>
              </a:tr>
              <a:tr h="247914">
                <a:tc>
                  <a:txBody>
                    <a:bodyPr/>
                    <a:lstStyle/>
                    <a:p>
                      <a:pPr algn="l" fontAlgn="b"/>
                      <a:r>
                        <a:rPr lang="en-GB" sz="1100" u="none" strike="noStrike">
                          <a:effectLst/>
                        </a:rPr>
                        <a:t>Oxygen</a:t>
                      </a:r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u="none" strike="noStrike">
                          <a:effectLst/>
                        </a:rPr>
                        <a:t>0.000</a:t>
                      </a:r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u="none" strike="noStrike">
                          <a:effectLst/>
                        </a:rPr>
                        <a:t>0.000</a:t>
                      </a:r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763604970"/>
                  </a:ext>
                </a:extLst>
              </a:tr>
              <a:tr h="247914">
                <a:tc>
                  <a:txBody>
                    <a:bodyPr/>
                    <a:lstStyle/>
                    <a:p>
                      <a:pPr algn="l" fontAlgn="b"/>
                      <a:r>
                        <a:rPr lang="en-GB" sz="1100" u="none" strike="noStrike">
                          <a:effectLst/>
                        </a:rPr>
                        <a:t>Ammonia</a:t>
                      </a:r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u="none" strike="noStrike">
                          <a:effectLst/>
                        </a:rPr>
                        <a:t>1.234</a:t>
                      </a:r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u="none" strike="noStrike">
                          <a:effectLst/>
                        </a:rPr>
                        <a:t>1.273</a:t>
                      </a:r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4227471731"/>
                  </a:ext>
                </a:extLst>
              </a:tr>
              <a:tr h="247914">
                <a:tc>
                  <a:txBody>
                    <a:bodyPr/>
                    <a:lstStyle/>
                    <a:p>
                      <a:pPr algn="l" fontAlgn="b"/>
                      <a:r>
                        <a:rPr lang="en-GB" sz="1100" u="none" strike="noStrike">
                          <a:effectLst/>
                        </a:rPr>
                        <a:t>Electricity</a:t>
                      </a:r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u="none" strike="noStrike">
                          <a:effectLst/>
                        </a:rPr>
                        <a:t>0.000</a:t>
                      </a:r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u="none" strike="noStrike">
                          <a:effectLst/>
                        </a:rPr>
                        <a:t>0.000</a:t>
                      </a:r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707194355"/>
                  </a:ext>
                </a:extLst>
              </a:tr>
              <a:tr h="247914">
                <a:tc>
                  <a:txBody>
                    <a:bodyPr/>
                    <a:lstStyle/>
                    <a:p>
                      <a:pPr algn="l" fontAlgn="b"/>
                      <a:r>
                        <a:rPr lang="en-GB" sz="1100" u="none" strike="noStrike">
                          <a:effectLst/>
                        </a:rPr>
                        <a:t>Cooling water</a:t>
                      </a:r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u="none" strike="noStrike">
                          <a:effectLst/>
                        </a:rPr>
                        <a:t>0.002</a:t>
                      </a:r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u="none" strike="noStrike">
                          <a:effectLst/>
                        </a:rPr>
                        <a:t>0.002</a:t>
                      </a:r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332406787"/>
                  </a:ext>
                </a:extLst>
              </a:tr>
              <a:tr h="247914">
                <a:tc>
                  <a:txBody>
                    <a:bodyPr/>
                    <a:lstStyle/>
                    <a:p>
                      <a:pPr algn="l" fontAlgn="b"/>
                      <a:r>
                        <a:rPr lang="en-GB" sz="1100" u="none" strike="noStrike">
                          <a:effectLst/>
                        </a:rPr>
                        <a:t>CAPEX</a:t>
                      </a:r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u="none" strike="noStrike">
                          <a:effectLst/>
                        </a:rPr>
                        <a:t>0.012</a:t>
                      </a:r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u="none" strike="noStrike" dirty="0">
                          <a:effectLst/>
                        </a:rPr>
                        <a:t>0.016</a:t>
                      </a:r>
                      <a:endParaRPr lang="en-GB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814931186"/>
                  </a:ext>
                </a:extLst>
              </a:tr>
              <a:tr h="247914"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1" u="none" strike="noStrike">
                          <a:effectLst/>
                        </a:rPr>
                        <a:t>Total</a:t>
                      </a:r>
                      <a:endParaRPr lang="en-GB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1" u="none" strike="noStrike">
                          <a:effectLst/>
                        </a:rPr>
                        <a:t>1.248</a:t>
                      </a:r>
                      <a:endParaRPr lang="en-GB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1" u="none" strike="noStrike" dirty="0">
                          <a:effectLst/>
                        </a:rPr>
                        <a:t>1.292</a:t>
                      </a:r>
                      <a:endParaRPr lang="en-GB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70966523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0212951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B42B9A-D450-47A5-92A6-F2A803DCC7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Global warming potential per kg</a:t>
            </a:r>
            <a:endParaRPr lang="en-GB" dirty="0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11211FBB-5126-449F-8F0F-362C578E944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77116018"/>
              </p:ext>
            </p:extLst>
          </p:nvPr>
        </p:nvGraphicFramePr>
        <p:xfrm>
          <a:off x="777805" y="2191286"/>
          <a:ext cx="4221359" cy="2167131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884716">
                  <a:extLst>
                    <a:ext uri="{9D8B030D-6E8A-4147-A177-3AD203B41FA5}">
                      <a16:colId xmlns:a16="http://schemas.microsoft.com/office/drawing/2014/main" val="3505707810"/>
                    </a:ext>
                  </a:extLst>
                </a:gridCol>
                <a:gridCol w="1301796">
                  <a:extLst>
                    <a:ext uri="{9D8B030D-6E8A-4147-A177-3AD203B41FA5}">
                      <a16:colId xmlns:a16="http://schemas.microsoft.com/office/drawing/2014/main" val="284531622"/>
                    </a:ext>
                  </a:extLst>
                </a:gridCol>
                <a:gridCol w="2034847">
                  <a:extLst>
                    <a:ext uri="{9D8B030D-6E8A-4147-A177-3AD203B41FA5}">
                      <a16:colId xmlns:a16="http://schemas.microsoft.com/office/drawing/2014/main" val="3062561873"/>
                    </a:ext>
                  </a:extLst>
                </a:gridCol>
              </a:tblGrid>
              <a:tr h="346741">
                <a:tc gridSpan="3">
                  <a:txBody>
                    <a:bodyPr/>
                    <a:lstStyle/>
                    <a:p>
                      <a:pPr algn="ctr" fontAlgn="b"/>
                      <a:r>
                        <a:rPr lang="en-GB" sz="1100" b="1" u="none" strike="noStrike" dirty="0">
                          <a:effectLst/>
                        </a:rPr>
                        <a:t>BAU</a:t>
                      </a:r>
                      <a:endParaRPr lang="en-GB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97804729"/>
                  </a:ext>
                </a:extLst>
              </a:tr>
              <a:tr h="433426"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1" u="none" strike="noStrike" dirty="0">
                          <a:effectLst/>
                        </a:rPr>
                        <a:t>Name</a:t>
                      </a:r>
                      <a:endParaRPr lang="en-GB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1" u="none" strike="noStrike">
                          <a:effectLst/>
                        </a:rPr>
                        <a:t>Ammonia source</a:t>
                      </a:r>
                      <a:endParaRPr lang="en-GB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1" u="none" strike="noStrike" dirty="0">
                          <a:effectLst/>
                        </a:rPr>
                        <a:t>GWP [kg CO</a:t>
                      </a:r>
                      <a:r>
                        <a:rPr lang="en-GB" sz="1100" b="1" u="none" strike="noStrike" baseline="-25000" dirty="0">
                          <a:effectLst/>
                        </a:rPr>
                        <a:t>2</a:t>
                      </a:r>
                      <a:r>
                        <a:rPr lang="en-GB" sz="1100" b="1" u="none" strike="noStrike" dirty="0">
                          <a:effectLst/>
                        </a:rPr>
                        <a:t>-eq kg</a:t>
                      </a:r>
                      <a:r>
                        <a:rPr lang="en-GB" sz="1100" b="1" u="none" strike="noStrike" baseline="30000" dirty="0">
                          <a:effectLst/>
                        </a:rPr>
                        <a:t>-1</a:t>
                      </a:r>
                      <a:r>
                        <a:rPr lang="en-GB" sz="1100" b="1" u="none" strike="noStrike" dirty="0">
                          <a:effectLst/>
                        </a:rPr>
                        <a:t> N</a:t>
                      </a:r>
                      <a:r>
                        <a:rPr lang="en-GB" sz="1100" b="1" u="none" strike="noStrike" baseline="-25000" dirty="0">
                          <a:effectLst/>
                        </a:rPr>
                        <a:t>2</a:t>
                      </a:r>
                      <a:r>
                        <a:rPr lang="en-GB" sz="1100" b="1" u="none" strike="noStrike" dirty="0">
                          <a:effectLst/>
                        </a:rPr>
                        <a:t>O]</a:t>
                      </a:r>
                      <a:endParaRPr lang="en-GB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927502999"/>
                  </a:ext>
                </a:extLst>
              </a:tr>
              <a:tr h="346741"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u="none" strike="noStrike">
                          <a:effectLst/>
                        </a:rPr>
                        <a:t>BAU best</a:t>
                      </a:r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u="none" strike="noStrike">
                          <a:effectLst/>
                        </a:rPr>
                        <a:t>Fossil</a:t>
                      </a:r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u="none" strike="noStrike" dirty="0">
                          <a:effectLst/>
                        </a:rPr>
                        <a:t>3.647</a:t>
                      </a:r>
                      <a:endParaRPr lang="en-GB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4212135117"/>
                  </a:ext>
                </a:extLst>
              </a:tr>
              <a:tr h="346741"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u="none" strike="noStrike">
                          <a:effectLst/>
                        </a:rPr>
                        <a:t>BAU best</a:t>
                      </a:r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u="none" strike="noStrike">
                          <a:effectLst/>
                        </a:rPr>
                        <a:t>Wind (green)</a:t>
                      </a:r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u="none" strike="noStrike" dirty="0">
                          <a:effectLst/>
                        </a:rPr>
                        <a:t>2.335</a:t>
                      </a:r>
                      <a:endParaRPr lang="en-GB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287957341"/>
                  </a:ext>
                </a:extLst>
              </a:tr>
              <a:tr h="346741"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1" u="none" strike="noStrike">
                          <a:effectLst/>
                        </a:rPr>
                        <a:t>BAU actual</a:t>
                      </a:r>
                      <a:endParaRPr lang="en-GB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1" u="none" strike="noStrike">
                          <a:effectLst/>
                        </a:rPr>
                        <a:t>Fossil</a:t>
                      </a:r>
                      <a:endParaRPr lang="en-GB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1" u="none" strike="noStrike" dirty="0">
                          <a:effectLst/>
                        </a:rPr>
                        <a:t>5.822</a:t>
                      </a:r>
                      <a:endParaRPr lang="en-GB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91182814"/>
                  </a:ext>
                </a:extLst>
              </a:tr>
              <a:tr h="346741"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u="none" strike="noStrike">
                          <a:effectLst/>
                        </a:rPr>
                        <a:t>BAU actual</a:t>
                      </a:r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u="none" strike="noStrike">
                          <a:effectLst/>
                        </a:rPr>
                        <a:t>Wind (green)</a:t>
                      </a:r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u="none" strike="noStrike" dirty="0">
                          <a:effectLst/>
                        </a:rPr>
                        <a:t>4.460</a:t>
                      </a:r>
                      <a:endParaRPr lang="en-GB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921672534"/>
                  </a:ext>
                </a:extLst>
              </a:tr>
            </a:tbl>
          </a:graphicData>
        </a:graphic>
      </p:graphicFrame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5AF47586-EC32-4B2E-917B-5DE3A6FA04B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47761689"/>
              </p:ext>
            </p:extLst>
          </p:nvPr>
        </p:nvGraphicFramePr>
        <p:xfrm>
          <a:off x="5889277" y="2049301"/>
          <a:ext cx="5737619" cy="24511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586660">
                  <a:extLst>
                    <a:ext uri="{9D8B030D-6E8A-4147-A177-3AD203B41FA5}">
                      <a16:colId xmlns:a16="http://schemas.microsoft.com/office/drawing/2014/main" val="3565723751"/>
                    </a:ext>
                  </a:extLst>
                </a:gridCol>
                <a:gridCol w="1650767">
                  <a:extLst>
                    <a:ext uri="{9D8B030D-6E8A-4147-A177-3AD203B41FA5}">
                      <a16:colId xmlns:a16="http://schemas.microsoft.com/office/drawing/2014/main" val="3076279913"/>
                    </a:ext>
                  </a:extLst>
                </a:gridCol>
                <a:gridCol w="2500192">
                  <a:extLst>
                    <a:ext uri="{9D8B030D-6E8A-4147-A177-3AD203B41FA5}">
                      <a16:colId xmlns:a16="http://schemas.microsoft.com/office/drawing/2014/main" val="2855034013"/>
                    </a:ext>
                  </a:extLst>
                </a:gridCol>
              </a:tblGrid>
              <a:tr h="297103">
                <a:tc gridSpan="3">
                  <a:txBody>
                    <a:bodyPr/>
                    <a:lstStyle/>
                    <a:p>
                      <a:pPr algn="ctr" fontAlgn="b"/>
                      <a:r>
                        <a:rPr lang="en-GB" sz="1100" b="1" u="none" strike="noStrike" dirty="0">
                          <a:effectLst/>
                        </a:rPr>
                        <a:t>New process</a:t>
                      </a:r>
                      <a:endParaRPr lang="en-GB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36686089"/>
                  </a:ext>
                </a:extLst>
              </a:tr>
              <a:tr h="371379"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1" u="none" strike="noStrike">
                          <a:effectLst/>
                        </a:rPr>
                        <a:t>Name</a:t>
                      </a:r>
                      <a:endParaRPr lang="en-GB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1" u="none" strike="noStrike">
                          <a:effectLst/>
                        </a:rPr>
                        <a:t>Ammonia source</a:t>
                      </a:r>
                      <a:endParaRPr lang="en-GB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1" u="none" strike="noStrike" dirty="0">
                          <a:effectLst/>
                        </a:rPr>
                        <a:t>GWP [kg CO</a:t>
                      </a:r>
                      <a:r>
                        <a:rPr lang="en-GB" sz="1100" b="1" u="none" strike="noStrike" baseline="-25000" dirty="0">
                          <a:effectLst/>
                        </a:rPr>
                        <a:t>2</a:t>
                      </a:r>
                      <a:r>
                        <a:rPr lang="en-GB" sz="1100" b="1" u="none" strike="noStrike" dirty="0">
                          <a:effectLst/>
                        </a:rPr>
                        <a:t>-eq kg</a:t>
                      </a:r>
                      <a:r>
                        <a:rPr lang="en-GB" sz="1100" b="1" u="none" strike="noStrike" baseline="30000" dirty="0">
                          <a:effectLst/>
                        </a:rPr>
                        <a:t>-1</a:t>
                      </a:r>
                      <a:r>
                        <a:rPr lang="en-GB" sz="1100" b="1" u="none" strike="noStrike" dirty="0">
                          <a:effectLst/>
                        </a:rPr>
                        <a:t> N</a:t>
                      </a:r>
                      <a:r>
                        <a:rPr lang="en-GB" sz="1100" b="1" u="none" strike="noStrike" baseline="-25000" dirty="0">
                          <a:effectLst/>
                        </a:rPr>
                        <a:t>2</a:t>
                      </a:r>
                      <a:r>
                        <a:rPr lang="en-GB" sz="1100" b="1" u="none" strike="noStrike" dirty="0">
                          <a:effectLst/>
                        </a:rPr>
                        <a:t>O]</a:t>
                      </a:r>
                      <a:endParaRPr lang="en-GB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837419171"/>
                  </a:ext>
                </a:extLst>
              </a:tr>
              <a:tr h="297103"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u="none" strike="noStrike">
                          <a:effectLst/>
                        </a:rPr>
                        <a:t>80% selectivity</a:t>
                      </a:r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u="none" strike="noStrike">
                          <a:effectLst/>
                        </a:rPr>
                        <a:t>Fossil</a:t>
                      </a:r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u="none" strike="noStrike" dirty="0">
                          <a:effectLst/>
                        </a:rPr>
                        <a:t>4.300</a:t>
                      </a:r>
                      <a:endParaRPr lang="en-GB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717640252"/>
                  </a:ext>
                </a:extLst>
              </a:tr>
              <a:tr h="297103"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u="none" strike="noStrike">
                          <a:effectLst/>
                        </a:rPr>
                        <a:t>80% selectivity</a:t>
                      </a:r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u="none" strike="noStrike">
                          <a:effectLst/>
                        </a:rPr>
                        <a:t>Wind (green)</a:t>
                      </a:r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u="none" strike="noStrike" dirty="0">
                          <a:effectLst/>
                        </a:rPr>
                        <a:t>2.693</a:t>
                      </a:r>
                      <a:endParaRPr lang="en-GB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395208847"/>
                  </a:ext>
                </a:extLst>
              </a:tr>
              <a:tr h="297103"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1" u="none" strike="noStrike">
                          <a:effectLst/>
                        </a:rPr>
                        <a:t>90% selectivity</a:t>
                      </a:r>
                      <a:endParaRPr lang="en-GB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1" u="none" strike="noStrike">
                          <a:effectLst/>
                        </a:rPr>
                        <a:t>Fossil</a:t>
                      </a:r>
                      <a:endParaRPr lang="en-GB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1" u="none" strike="noStrike" dirty="0">
                          <a:effectLst/>
                        </a:rPr>
                        <a:t>3.866</a:t>
                      </a:r>
                      <a:endParaRPr lang="en-GB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87640088"/>
                  </a:ext>
                </a:extLst>
              </a:tr>
              <a:tr h="297103"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1" u="none" strike="noStrike">
                          <a:effectLst/>
                        </a:rPr>
                        <a:t>90% selectivity</a:t>
                      </a:r>
                      <a:endParaRPr lang="en-GB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1" u="none" strike="noStrike">
                          <a:effectLst/>
                        </a:rPr>
                        <a:t>Wind (green)</a:t>
                      </a:r>
                      <a:endParaRPr lang="en-GB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1" u="none" strike="noStrike" dirty="0">
                          <a:effectLst/>
                        </a:rPr>
                        <a:t>2.437</a:t>
                      </a:r>
                      <a:endParaRPr lang="en-GB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21987635"/>
                  </a:ext>
                </a:extLst>
              </a:tr>
              <a:tr h="297103"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u="none" strike="noStrike">
                          <a:effectLst/>
                        </a:rPr>
                        <a:t>100% selectivity</a:t>
                      </a:r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u="none" strike="noStrike">
                          <a:effectLst/>
                        </a:rPr>
                        <a:t>Fossil</a:t>
                      </a:r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u="none" strike="noStrike" dirty="0">
                          <a:effectLst/>
                        </a:rPr>
                        <a:t>3.518</a:t>
                      </a:r>
                      <a:endParaRPr lang="en-GB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884777035"/>
                  </a:ext>
                </a:extLst>
              </a:tr>
              <a:tr h="297103"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u="none" strike="noStrike">
                          <a:effectLst/>
                        </a:rPr>
                        <a:t>100% selectivity</a:t>
                      </a:r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u="none" strike="noStrike">
                          <a:effectLst/>
                        </a:rPr>
                        <a:t>Wind (green)</a:t>
                      </a:r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u="none" strike="noStrike" dirty="0">
                          <a:effectLst/>
                        </a:rPr>
                        <a:t>2.232</a:t>
                      </a:r>
                      <a:endParaRPr lang="en-GB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25633651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4623843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EA8A3B-A397-4C37-84D3-2CEBE24B6A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Next steps?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3889E8-9714-4E45-97AA-8E61F509E9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Safety</a:t>
            </a:r>
          </a:p>
          <a:p>
            <a:r>
              <a:rPr lang="en-US" dirty="0"/>
              <a:t>Javier meeting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47580897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334</Words>
  <Application>Microsoft Office PowerPoint</Application>
  <PresentationFormat>Widescreen</PresentationFormat>
  <Paragraphs>183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Calibri Light</vt:lpstr>
      <vt:lpstr>Office Theme</vt:lpstr>
      <vt:lpstr>Nitrous oxide production</vt:lpstr>
      <vt:lpstr>BAU flowsheet – best case</vt:lpstr>
      <vt:lpstr>Ammonia is the major contributor to the economics</vt:lpstr>
      <vt:lpstr>BAU flowsheet – actual case</vt:lpstr>
      <vt:lpstr>Emissions from literature</vt:lpstr>
      <vt:lpstr>Actual economics</vt:lpstr>
      <vt:lpstr>One step synthesis – 80%, 90%, or 100%</vt:lpstr>
      <vt:lpstr>Economics of one step process</vt:lpstr>
      <vt:lpstr>Global warming potential per kg</vt:lpstr>
      <vt:lpstr>Next steps?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Nitrous oxide production</dc:title>
  <dc:creator>Nabera  Abhinandan</dc:creator>
  <cp:lastModifiedBy>Nabera  Abhinandan</cp:lastModifiedBy>
  <cp:revision>5</cp:revision>
  <dcterms:created xsi:type="dcterms:W3CDTF">2023-10-02T12:50:04Z</dcterms:created>
  <dcterms:modified xsi:type="dcterms:W3CDTF">2023-10-02T13:17:54Z</dcterms:modified>
</cp:coreProperties>
</file>